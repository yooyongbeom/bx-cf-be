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2" r:id="rId3"/>
    <p:sldId id="281" r:id="rId4"/>
    <p:sldId id="277" r:id="rId5"/>
    <p:sldId id="276" r:id="rId6"/>
    <p:sldId id="279" r:id="rId7"/>
    <p:sldId id="280" r:id="rId8"/>
    <p:sldId id="278" r:id="rId9"/>
    <p:sldId id="273" r:id="rId10"/>
    <p:sldId id="282" r:id="rId17"/>
    <p:sldId id="283" r:id="rId18"/>
    <p:sldId id="284" r:id="rId19"/>
    <p:sldId id="285" r:id="rId2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7A01D3D-85A8-4F0D-91B5-B05428017942}">
          <p14:sldIdLst>
            <p14:sldId id="256"/>
            <p14:sldId id="272"/>
          </p14:sldIdLst>
        </p14:section>
        <p14:section name="Presentation Tier" id="{35FE9FC1-4A59-48AC-8341-9BBCB37D2F00}">
          <p14:sldIdLst>
            <p14:sldId id="281"/>
            <p14:sldId id="277"/>
          </p14:sldIdLst>
        </p14:section>
        <p14:section name="Business Tier" id="{689A9DF2-8347-418B-95E9-92D2DA2BBAF2}">
          <p14:sldIdLst>
            <p14:sldId id="276"/>
          </p14:sldIdLst>
        </p14:section>
        <p14:section name="구조" id="{480AD610-08FC-46EB-BD10-C387DB8605C0}">
          <p14:sldIdLst>
            <p14:sldId id="279"/>
            <p14:sldId id="280"/>
          </p14:sldIdLst>
        </p14:section>
        <p14:section name="보안" id="{3D2B6A21-D6D2-45DA-9A67-4B243D472603}">
          <p14:sldIdLst>
            <p14:sldId id="278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C1CF"/>
    <a:srgbClr val="107EB0"/>
    <a:srgbClr val="F6FAE6"/>
    <a:srgbClr val="003398"/>
    <a:srgbClr val="CCFF99"/>
    <a:srgbClr val="1172FF"/>
    <a:srgbClr val="DAEDF6"/>
    <a:srgbClr val="FFCC99"/>
    <a:srgbClr val="7EACFE"/>
    <a:srgbClr val="E5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9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5402F6-629C-46BA-B5A9-B33C536E7800}" type="datetime4">
              <a:rPr lang="ko-KR" altLang="en-US" smtClean="0">
                <a:latin typeface="맑은 고딕" panose="020B0503020000020004" pitchFamily="50" charset="-127"/>
              </a:rPr>
              <a:t>2025년 9월 26일</a:t>
            </a:fld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92CCB-FF08-4D29-8DA3-E1FD86044808}" type="slidenum">
              <a:rPr lang="en-US" altLang="ko-KR">
                <a:latin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</a:defRPr>
            </a:lvl1pPr>
          </a:lstStyle>
          <a:p>
            <a:fld id="{05A25023-1D2E-411E-85C5-F0A91A85EBD8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dirty="0"/>
              <a:t>마스터 텍스트 스타일을 편집하려면 클릭하세요</a:t>
            </a:r>
            <a:r>
              <a:rPr lang="en-US" altLang="ko-KR" dirty="0"/>
              <a:t>.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</a:defRPr>
            </a:lvl1pPr>
          </a:lstStyle>
          <a:p>
            <a:fld id="{958706C7-F2C3-48B6-8A22-C484D800B5D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603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7960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3326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4595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38137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5902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96357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-1" y="1905000"/>
            <a:ext cx="12188826" cy="32004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-2" y="1795132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-2" y="5142116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rtlCol="0"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9152C63-2413-4933-A460-D4248DBD7AAC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CD48A7D-2802-44DF-A4A6-F3F97530C999}"/>
              </a:ext>
            </a:extLst>
          </p:cNvPr>
          <p:cNvSpPr/>
          <p:nvPr userDrawn="1"/>
        </p:nvSpPr>
        <p:spPr>
          <a:xfrm>
            <a:off x="8995635" y="59000"/>
            <a:ext cx="29530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j-cs"/>
              </a:rPr>
              <a:t>BnF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j-cs"/>
              </a:rPr>
              <a:t> BU / Channel Unit</a:t>
            </a:r>
            <a:endParaRPr lang="ko-KR" altLang="en-US" sz="2000" dirty="0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BEFB4CAE-7061-4F55-A3AB-EA5F522EB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0381" y="6427918"/>
            <a:ext cx="2793651" cy="40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7759B71-A37D-437C-92E9-38F3A3497105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1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B19E25E-669E-42E3-A10D-36DC493F4980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>
                <a:latin typeface="맑은 고딕" panose="020B0503020000020004" pitchFamily="50" charset="-127"/>
              </a:defRPr>
            </a:lvl6pPr>
          </a:lstStyle>
          <a:p>
            <a:pPr lvl="0" rtl="0"/>
            <a:r>
              <a:rPr lang="ko-KR" altLang="en-US" dirty="0"/>
              <a:t>마스터 텍스트 스타일을 편집하려면 클릭하세요</a:t>
            </a:r>
            <a:r>
              <a:rPr lang="en-US" altLang="ko-KR" dirty="0"/>
              <a:t>.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  <a:p>
            <a:pPr lvl="5" rtl="0"/>
            <a:r>
              <a:rPr lang="en-US" altLang="ko-KR" dirty="0"/>
              <a:t>we</a:t>
            </a:r>
          </a:p>
          <a:p>
            <a:pPr lvl="5" rtl="0"/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B5E6401-5B95-4F82-8C99-8E8069121836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70BE91B-801E-4364-8893-1B944F4FDA95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022A87B-088A-4CCD-9C2B-A2E8B629838E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직사각형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noProof="0" dirty="0">
                <a:latin typeface="맑은 고딕" panose="020B0503020000020004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noProof="0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31FEAB6-B437-40A6-85B8-69C734E28AF5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직사각형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1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BE74401-1E2B-4D80-B7C5-12AFC0FCFCB4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직사각형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1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E8F8AED-BEE9-4797-8FFA-88B3C26AC716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D613806-0F6C-444F-906B-D631DA2BE8EB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 rtlCol="0"/>
          <a:lstStyle/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877BFD5-861A-4BA1-88F1-6EFF7D095743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dirty="0"/>
              <a:t>마스터 텍스트 스타일을 편집하려면 클릭하세요</a:t>
            </a:r>
            <a:r>
              <a:rPr lang="en-US" altLang="ko-KR" dirty="0"/>
              <a:t>.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689156" y="6598763"/>
            <a:ext cx="133200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</a:lstStyle>
          <a:p>
            <a:fld id="{C75011F3-85B5-4586-82E5-14C6B7C84543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</a:lstStyle>
          <a:p>
            <a:fld id="{FC749032-2A07-4AE8-BA90-74324CAE0C8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E5228B2A-1CB6-4AE3-B641-68A45DC514D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230381" y="6427918"/>
            <a:ext cx="2793651" cy="40634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1A4E530-A52C-4EA5-A479-5B63BF24F33D}"/>
              </a:ext>
            </a:extLst>
          </p:cNvPr>
          <p:cNvSpPr/>
          <p:nvPr userDrawn="1"/>
        </p:nvSpPr>
        <p:spPr>
          <a:xfrm>
            <a:off x="8995635" y="59000"/>
            <a:ext cx="29530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j-cs"/>
              </a:rPr>
              <a:t>BnF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j-cs"/>
              </a:rPr>
              <a:t> BU / Channel Unit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27432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1pPr>
      <a:lvl2pPr marL="594360" indent="-228600" algn="l" defTabSz="914400" rtl="0" eaLnBrk="1" latinLnBrk="1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2pPr>
      <a:lvl3pPr marL="91440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3pPr>
      <a:lvl4pPr marL="123444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4pPr>
      <a:lvl5pPr marL="155448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5pPr>
      <a:lvl6pPr marL="187452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4000" dirty="0"/>
              <a:t>채널</a:t>
            </a:r>
            <a:r>
              <a:rPr lang="en-US" altLang="ko-KR" sz="4000" dirty="0"/>
              <a:t> </a:t>
            </a:r>
            <a:r>
              <a:rPr lang="ko-KR" altLang="en-US" sz="4000" dirty="0"/>
              <a:t>프레임워크 구축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ko-KR" sz="3200" dirty="0"/>
              <a:t>Ver 0.6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22412556-DEA1-49B6-91E9-1F89852F2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734" y="3625886"/>
            <a:ext cx="559604" cy="31739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374F86D4-938A-4B48-B079-5CCA6B6BD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9979" y="3252518"/>
            <a:ext cx="810892" cy="35296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39FF9A2-C66B-41AA-9349-C1335CE6E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0181" y="2874422"/>
            <a:ext cx="910488" cy="4393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5E0A486-4F23-4912-8B71-4FAD9B80E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8269" y="2129220"/>
            <a:ext cx="1234109" cy="568170"/>
          </a:xfrm>
          <a:prstGeom prst="rect">
            <a:avLst/>
          </a:prstGeom>
        </p:spPr>
      </p:pic>
      <p:sp>
        <p:nvSpPr>
          <p:cNvPr id="8" name="제목 12">
            <a:extLst>
              <a:ext uri="{FF2B5EF4-FFF2-40B4-BE49-F238E27FC236}">
                <a16:creationId xmlns:a16="http://schemas.microsoft.com/office/drawing/2014/main" id="{2A76CA68-FC05-48E8-81FE-7E91825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550332"/>
            <a:ext cx="10071947" cy="533401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2800" dirty="0"/>
              <a:t>채널 프레임워크 구성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78E88-86EB-43F4-8650-F8A215273C2E}"/>
              </a:ext>
            </a:extLst>
          </p:cNvPr>
          <p:cNvSpPr/>
          <p:nvPr/>
        </p:nvSpPr>
        <p:spPr>
          <a:xfrm>
            <a:off x="1075266" y="1117596"/>
            <a:ext cx="5322446" cy="3725336"/>
          </a:xfrm>
          <a:prstGeom prst="rect">
            <a:avLst/>
          </a:prstGeom>
          <a:solidFill>
            <a:srgbClr val="E5EEFF"/>
          </a:soli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Presentation Tier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020343A-DAEB-47E8-BB31-6186482405AF}"/>
              </a:ext>
            </a:extLst>
          </p:cNvPr>
          <p:cNvSpPr/>
          <p:nvPr/>
        </p:nvSpPr>
        <p:spPr>
          <a:xfrm>
            <a:off x="3096506" y="3206683"/>
            <a:ext cx="3144470" cy="1455114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bg1"/>
                </a:solidFill>
              </a:rPr>
              <a:t>Interface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D24EE4F-7902-4972-97CD-4B8C3097B11A}"/>
              </a:ext>
            </a:extLst>
          </p:cNvPr>
          <p:cNvSpPr/>
          <p:nvPr/>
        </p:nvSpPr>
        <p:spPr>
          <a:xfrm>
            <a:off x="6975486" y="3795371"/>
            <a:ext cx="2939658" cy="1047562"/>
          </a:xfrm>
          <a:prstGeom prst="rect">
            <a:avLst/>
          </a:prstGeom>
          <a:solidFill>
            <a:srgbClr val="E5EEFF"/>
          </a:soli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APP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0F9E9E-D9C0-46A7-BF8E-6D0724F4F554}"/>
              </a:ext>
            </a:extLst>
          </p:cNvPr>
          <p:cNvSpPr/>
          <p:nvPr/>
        </p:nvSpPr>
        <p:spPr>
          <a:xfrm>
            <a:off x="6975486" y="1117594"/>
            <a:ext cx="4175122" cy="2599283"/>
          </a:xfrm>
          <a:prstGeom prst="rect">
            <a:avLst/>
          </a:prstGeom>
          <a:solidFill>
            <a:srgbClr val="E5EEFF"/>
          </a:soli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Business Tier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46F1D3-1EDB-4CB8-93B5-32DB797268DD}"/>
              </a:ext>
            </a:extLst>
          </p:cNvPr>
          <p:cNvSpPr/>
          <p:nvPr/>
        </p:nvSpPr>
        <p:spPr>
          <a:xfrm>
            <a:off x="3096506" y="1546283"/>
            <a:ext cx="3144470" cy="1455114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SPA (Single Page Application)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A8F084-1783-47F3-B9D6-BEA4280D9D8F}"/>
              </a:ext>
            </a:extLst>
          </p:cNvPr>
          <p:cNvSpPr/>
          <p:nvPr/>
        </p:nvSpPr>
        <p:spPr>
          <a:xfrm>
            <a:off x="7098253" y="1546283"/>
            <a:ext cx="3931000" cy="1455112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Spring Cloud Server(Spring Boot)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021B1B-BEA8-4360-8A98-E0B956F0F857}"/>
              </a:ext>
            </a:extLst>
          </p:cNvPr>
          <p:cNvSpPr/>
          <p:nvPr/>
        </p:nvSpPr>
        <p:spPr>
          <a:xfrm>
            <a:off x="3219278" y="1887418"/>
            <a:ext cx="2903535" cy="10113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bg1"/>
                </a:solidFill>
              </a:rPr>
              <a:t>Client Side Rendering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5F5A96D-9E86-4860-A9F9-1A1E64018DB2}"/>
              </a:ext>
            </a:extLst>
          </p:cNvPr>
          <p:cNvGrpSpPr/>
          <p:nvPr/>
        </p:nvGrpSpPr>
        <p:grpSpPr>
          <a:xfrm>
            <a:off x="7098253" y="4051977"/>
            <a:ext cx="2671814" cy="627929"/>
            <a:chOff x="7061200" y="3564467"/>
            <a:chExt cx="3445933" cy="1083733"/>
          </a:xfrm>
          <a:solidFill>
            <a:srgbClr val="7EACFE"/>
          </a:solidFill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E5ADE3-7EF7-4EE5-9CB4-25C3106A1B1B}"/>
                </a:ext>
              </a:extLst>
            </p:cNvPr>
            <p:cNvSpPr/>
            <p:nvPr/>
          </p:nvSpPr>
          <p:spPr>
            <a:xfrm>
              <a:off x="7061200" y="3564467"/>
              <a:ext cx="3445933" cy="108373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</a:rPr>
                <a:t>Platform</a:t>
              </a:r>
              <a:endParaRPr lang="ko-KR" alt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125BC5A-97DB-4381-9F52-95B4A4DF8006}"/>
                </a:ext>
              </a:extLst>
            </p:cNvPr>
            <p:cNvSpPr/>
            <p:nvPr/>
          </p:nvSpPr>
          <p:spPr>
            <a:xfrm>
              <a:off x="7194126" y="4017434"/>
              <a:ext cx="1520616" cy="495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iOS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5AB854D-0CFB-4E38-8FBA-DB9E48224279}"/>
                </a:ext>
              </a:extLst>
            </p:cNvPr>
            <p:cNvSpPr/>
            <p:nvPr/>
          </p:nvSpPr>
          <p:spPr>
            <a:xfrm>
              <a:off x="8847668" y="4017434"/>
              <a:ext cx="1520616" cy="495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Android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1794940-BEDF-4092-A733-03B360BDFF8C}"/>
              </a:ext>
            </a:extLst>
          </p:cNvPr>
          <p:cNvCxnSpPr>
            <a:cxnSpLocks/>
          </p:cNvCxnSpPr>
          <p:nvPr/>
        </p:nvCxnSpPr>
        <p:spPr>
          <a:xfrm>
            <a:off x="6415591" y="3004412"/>
            <a:ext cx="518606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275F176-8035-4699-AE5C-13811B86BE41}"/>
              </a:ext>
            </a:extLst>
          </p:cNvPr>
          <p:cNvGrpSpPr/>
          <p:nvPr/>
        </p:nvGrpSpPr>
        <p:grpSpPr>
          <a:xfrm>
            <a:off x="4067276" y="2183273"/>
            <a:ext cx="1946803" cy="621896"/>
            <a:chOff x="3172274" y="4148663"/>
            <a:chExt cx="2510860" cy="872067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BD18737-41B8-4A33-9AEA-66F18C822474}"/>
                </a:ext>
              </a:extLst>
            </p:cNvPr>
            <p:cNvSpPr/>
            <p:nvPr/>
          </p:nvSpPr>
          <p:spPr>
            <a:xfrm>
              <a:off x="3172274" y="4148663"/>
              <a:ext cx="2510860" cy="87206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</a:rPr>
                <a:t>Server Side Rendering</a:t>
              </a:r>
              <a:endParaRPr lang="ko-KR" alt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1EBDC61-3B00-4CE7-81DF-F3BCBA201BD2}"/>
                </a:ext>
              </a:extLst>
            </p:cNvPr>
            <p:cNvSpPr/>
            <p:nvPr/>
          </p:nvSpPr>
          <p:spPr>
            <a:xfrm>
              <a:off x="3276193" y="4512728"/>
              <a:ext cx="1096150" cy="402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next.js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(react</a:t>
              </a:r>
              <a:r>
                <a:rPr lang="ko-KR" altLang="en-US" sz="800" dirty="0">
                  <a:solidFill>
                    <a:schemeClr val="tx1"/>
                  </a:solidFill>
                </a:rPr>
                <a:t> 기반</a:t>
              </a:r>
              <a:r>
                <a:rPr lang="en-US" altLang="ko-KR" sz="800" dirty="0">
                  <a:solidFill>
                    <a:schemeClr val="tx1"/>
                  </a:solidFill>
                </a:rPr>
                <a:t>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EBE0A20-171C-43E9-A278-47BB68C8E098}"/>
                </a:ext>
              </a:extLst>
            </p:cNvPr>
            <p:cNvSpPr/>
            <p:nvPr/>
          </p:nvSpPr>
          <p:spPr>
            <a:xfrm>
              <a:off x="4524742" y="4512728"/>
              <a:ext cx="1096149" cy="4021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☑️</a:t>
              </a:r>
              <a:r>
                <a:rPr lang="ko-KR" altLang="en-US" sz="1000" dirty="0">
                  <a:solidFill>
                    <a:srgbClr val="00B050"/>
                  </a:solidFill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</a:rPr>
                <a:t>BXUI</a:t>
              </a:r>
            </a:p>
            <a:p>
              <a:pPr algn="ctr"/>
              <a:r>
                <a:rPr lang="en-US" altLang="ko-KR" sz="800" dirty="0">
                  <a:solidFill>
                    <a:srgbClr val="FF0000"/>
                  </a:solidFill>
                </a:rPr>
                <a:t>(next.js</a:t>
              </a:r>
              <a:r>
                <a:rPr lang="ko-KR" altLang="en-US" sz="800" dirty="0">
                  <a:solidFill>
                    <a:srgbClr val="FF0000"/>
                  </a:solidFill>
                </a:rPr>
                <a:t> 기반</a:t>
              </a:r>
              <a:r>
                <a:rPr lang="en-US" altLang="ko-KR" sz="800" dirty="0">
                  <a:solidFill>
                    <a:srgbClr val="FF0000"/>
                  </a:solidFill>
                </a:rPr>
                <a:t>)</a:t>
              </a:r>
              <a:endParaRPr lang="ko-KR" altLang="en-US" sz="9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DB7A12-4291-4E23-BBA0-8A43FC0A7B4B}"/>
              </a:ext>
            </a:extLst>
          </p:cNvPr>
          <p:cNvSpPr/>
          <p:nvPr/>
        </p:nvSpPr>
        <p:spPr>
          <a:xfrm>
            <a:off x="3334084" y="2201388"/>
            <a:ext cx="612869" cy="241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React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C57356-EA3D-4BDE-AF83-27F65E13DE51}"/>
              </a:ext>
            </a:extLst>
          </p:cNvPr>
          <p:cNvSpPr/>
          <p:nvPr/>
        </p:nvSpPr>
        <p:spPr>
          <a:xfrm>
            <a:off x="3334084" y="2545542"/>
            <a:ext cx="612869" cy="241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vue.js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9E86C8C-D3F8-47E2-A4A0-9A7C6E4736B1}"/>
              </a:ext>
            </a:extLst>
          </p:cNvPr>
          <p:cNvGrpSpPr/>
          <p:nvPr/>
        </p:nvGrpSpPr>
        <p:grpSpPr>
          <a:xfrm>
            <a:off x="3219278" y="3502542"/>
            <a:ext cx="1409088" cy="1059644"/>
            <a:chOff x="2450257" y="3979336"/>
            <a:chExt cx="1780544" cy="1485910"/>
          </a:xfrm>
          <a:solidFill>
            <a:srgbClr val="1172FF"/>
          </a:solidFill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1B6DC7D-1D32-4466-9F07-0C6BC957C6B3}"/>
                </a:ext>
              </a:extLst>
            </p:cNvPr>
            <p:cNvSpPr/>
            <p:nvPr/>
          </p:nvSpPr>
          <p:spPr>
            <a:xfrm>
              <a:off x="2450257" y="3979336"/>
              <a:ext cx="1780544" cy="148591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</a:rPr>
                <a:t>API Control</a:t>
              </a:r>
              <a:endParaRPr lang="ko-KR" alt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1051471-1F2D-459E-8AE1-91B25C46E6A7}"/>
                </a:ext>
              </a:extLst>
            </p:cNvPr>
            <p:cNvSpPr/>
            <p:nvPr/>
          </p:nvSpPr>
          <p:spPr>
            <a:xfrm>
              <a:off x="2749968" y="4986864"/>
              <a:ext cx="1181955" cy="351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Deep Link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532CA0E-996B-4381-9DEA-C4D7948A7757}"/>
                </a:ext>
              </a:extLst>
            </p:cNvPr>
            <p:cNvSpPr/>
            <p:nvPr/>
          </p:nvSpPr>
          <p:spPr>
            <a:xfrm>
              <a:off x="2749968" y="4485209"/>
              <a:ext cx="1181955" cy="351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Router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B735478-C256-4379-9C11-2E55B66619AD}"/>
              </a:ext>
            </a:extLst>
          </p:cNvPr>
          <p:cNvGrpSpPr/>
          <p:nvPr/>
        </p:nvGrpSpPr>
        <p:grpSpPr>
          <a:xfrm>
            <a:off x="4738656" y="3502542"/>
            <a:ext cx="1384157" cy="1059644"/>
            <a:chOff x="7490456" y="3979336"/>
            <a:chExt cx="1780544" cy="1485910"/>
          </a:xfrm>
          <a:solidFill>
            <a:srgbClr val="1172FF"/>
          </a:solidFill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FCB6B19-B224-46A2-92E8-60CF197AE009}"/>
                </a:ext>
              </a:extLst>
            </p:cNvPr>
            <p:cNvSpPr/>
            <p:nvPr/>
          </p:nvSpPr>
          <p:spPr>
            <a:xfrm>
              <a:off x="7490456" y="3979336"/>
              <a:ext cx="1780544" cy="148591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</a:rPr>
                <a:t>Module (Route)</a:t>
              </a:r>
            </a:p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(</a:t>
              </a:r>
              <a:r>
                <a:rPr lang="ko-KR" altLang="en-US" sz="900" dirty="0">
                  <a:solidFill>
                    <a:schemeClr val="bg1"/>
                  </a:solidFill>
                </a:rPr>
                <a:t>지속적인 통합</a:t>
              </a:r>
              <a:r>
                <a:rPr lang="en-US" altLang="ko-KR" sz="900" dirty="0">
                  <a:solidFill>
                    <a:schemeClr val="bg1"/>
                  </a:solidFill>
                </a:rPr>
                <a:t>)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232243-37FE-42E5-9B41-9FF7AF556644}"/>
                </a:ext>
              </a:extLst>
            </p:cNvPr>
            <p:cNvSpPr/>
            <p:nvPr/>
          </p:nvSpPr>
          <p:spPr>
            <a:xfrm>
              <a:off x="7789750" y="4485209"/>
              <a:ext cx="1181955" cy="351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3</a:t>
              </a:r>
              <a:r>
                <a:rPr lang="en-US" altLang="ko-KR" sz="1000" baseline="30000">
                  <a:solidFill>
                    <a:schemeClr val="tx1"/>
                  </a:solidFill>
                </a:rPr>
                <a:t>rd</a:t>
              </a:r>
              <a:r>
                <a:rPr lang="en-US" altLang="ko-KR" sz="1000">
                  <a:solidFill>
                    <a:schemeClr val="tx1"/>
                  </a:solidFill>
                </a:rPr>
                <a:t> Library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C0F2EBE-ACCF-40B6-A983-BA4ABF0B02C1}"/>
                </a:ext>
              </a:extLst>
            </p:cNvPr>
            <p:cNvSpPr/>
            <p:nvPr/>
          </p:nvSpPr>
          <p:spPr>
            <a:xfrm>
              <a:off x="7789749" y="4999565"/>
              <a:ext cx="1181955" cy="351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App Bridge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1D36CC9-B402-43DB-812E-7923525B0C8A}"/>
              </a:ext>
            </a:extLst>
          </p:cNvPr>
          <p:cNvCxnSpPr>
            <a:cxnSpLocks/>
          </p:cNvCxnSpPr>
          <p:nvPr/>
        </p:nvCxnSpPr>
        <p:spPr>
          <a:xfrm>
            <a:off x="4404969" y="3988579"/>
            <a:ext cx="323460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18C5405-F0AD-4D97-A4CF-B83B6866E6DD}"/>
              </a:ext>
            </a:extLst>
          </p:cNvPr>
          <p:cNvSpPr/>
          <p:nvPr/>
        </p:nvSpPr>
        <p:spPr>
          <a:xfrm>
            <a:off x="8019248" y="1835765"/>
            <a:ext cx="1551194" cy="250535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API Gateway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018321D-2B99-4AF7-8D26-AF3B9271516A}"/>
              </a:ext>
            </a:extLst>
          </p:cNvPr>
          <p:cNvSpPr/>
          <p:nvPr/>
        </p:nvSpPr>
        <p:spPr>
          <a:xfrm>
            <a:off x="7198757" y="2217638"/>
            <a:ext cx="882476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common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91609D4-78C9-4BA8-A89F-2F1206D26740}"/>
              </a:ext>
            </a:extLst>
          </p:cNvPr>
          <p:cNvSpPr/>
          <p:nvPr/>
        </p:nvSpPr>
        <p:spPr>
          <a:xfrm>
            <a:off x="7098253" y="3098125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API </a:t>
            </a:r>
            <a:r>
              <a:rPr lang="ko-KR" altLang="en-US" sz="1000" dirty="0">
                <a:solidFill>
                  <a:schemeClr val="tx1"/>
                </a:solidFill>
              </a:rPr>
              <a:t>관리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DDEBE24-CCC7-4DA2-A525-41DCB59EEC83}"/>
              </a:ext>
            </a:extLst>
          </p:cNvPr>
          <p:cNvSpPr/>
          <p:nvPr/>
        </p:nvSpPr>
        <p:spPr>
          <a:xfrm>
            <a:off x="8112347" y="3098124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모니터링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D5A7ACE-4409-4BE0-8208-AE32CBD07209}"/>
              </a:ext>
            </a:extLst>
          </p:cNvPr>
          <p:cNvCxnSpPr>
            <a:cxnSpLocks/>
          </p:cNvCxnSpPr>
          <p:nvPr/>
        </p:nvCxnSpPr>
        <p:spPr>
          <a:xfrm>
            <a:off x="5889616" y="4370062"/>
            <a:ext cx="1061515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929B68-C608-4885-83F4-747D0A56CB65}"/>
              </a:ext>
            </a:extLst>
          </p:cNvPr>
          <p:cNvSpPr txBox="1"/>
          <p:nvPr/>
        </p:nvSpPr>
        <p:spPr>
          <a:xfrm>
            <a:off x="523458" y="5013741"/>
            <a:ext cx="3486852" cy="76944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100" dirty="0"/>
              <a:t>BXUI : </a:t>
            </a:r>
            <a:r>
              <a:rPr lang="ko-KR" altLang="en-US" sz="1100" dirty="0"/>
              <a:t>퍼블리셔 팀 지원 </a:t>
            </a:r>
            <a:r>
              <a:rPr lang="en-US" altLang="ko-KR" sz="1100" dirty="0"/>
              <a:t>(1</a:t>
            </a:r>
            <a:r>
              <a:rPr lang="ko-KR" altLang="en-US" sz="1100" dirty="0"/>
              <a:t>순위</a:t>
            </a:r>
            <a:r>
              <a:rPr lang="en-US" altLang="ko-KR" sz="1100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sz="1100" dirty="0"/>
              <a:t>next.js : BXUI</a:t>
            </a:r>
            <a:r>
              <a:rPr lang="ko-KR" altLang="en-US" sz="1100" dirty="0"/>
              <a:t>의 기반이 </a:t>
            </a:r>
            <a:r>
              <a:rPr lang="en-US" altLang="ko-KR" sz="1100" dirty="0"/>
              <a:t>next.js (2</a:t>
            </a:r>
            <a:r>
              <a:rPr lang="ko-KR" altLang="en-US" sz="1100" dirty="0"/>
              <a:t>순위</a:t>
            </a:r>
            <a:r>
              <a:rPr lang="en-US" altLang="ko-KR" sz="1100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sz="1100" dirty="0"/>
              <a:t>react : next.js</a:t>
            </a:r>
            <a:r>
              <a:rPr lang="ko-KR" altLang="en-US" sz="1100" dirty="0"/>
              <a:t>의 기반이 </a:t>
            </a:r>
            <a:r>
              <a:rPr lang="en-US" altLang="ko-KR" sz="1100" dirty="0"/>
              <a:t>react</a:t>
            </a:r>
          </a:p>
          <a:p>
            <a:pPr marL="342900" indent="-342900">
              <a:buAutoNum type="arabicPeriod"/>
            </a:pPr>
            <a:r>
              <a:rPr lang="en-US" altLang="ko-KR" sz="1100" dirty="0"/>
              <a:t>vue.js : </a:t>
            </a:r>
            <a:r>
              <a:rPr lang="ko-KR" altLang="en-US" sz="1100" dirty="0"/>
              <a:t>같은 </a:t>
            </a:r>
            <a:r>
              <a:rPr lang="en-US" altLang="ko-KR" sz="1100" dirty="0"/>
              <a:t>SPA </a:t>
            </a:r>
            <a:r>
              <a:rPr lang="ko-KR" altLang="en-US" sz="1100" dirty="0"/>
              <a:t>이지만</a:t>
            </a:r>
            <a:r>
              <a:rPr lang="en-US" altLang="ko-KR" sz="1100" dirty="0"/>
              <a:t>,</a:t>
            </a:r>
            <a:r>
              <a:rPr lang="ko-KR" altLang="en-US" sz="1100" dirty="0"/>
              <a:t> 다른 제품 </a:t>
            </a:r>
            <a:r>
              <a:rPr lang="en-US" altLang="ko-KR" sz="1100" dirty="0"/>
              <a:t>(</a:t>
            </a:r>
            <a:r>
              <a:rPr lang="ko-KR" altLang="en-US" sz="1100" dirty="0"/>
              <a:t>샘플 처리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64" name="AutoShape 75">
            <a:extLst>
              <a:ext uri="{FF2B5EF4-FFF2-40B4-BE49-F238E27FC236}">
                <a16:creationId xmlns:a16="http://schemas.microsoft.com/office/drawing/2014/main" id="{70C30822-C7C0-4AAB-A456-9EB86D53A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642" y="1429737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1</a:t>
            </a:r>
          </a:p>
        </p:txBody>
      </p:sp>
      <p:sp>
        <p:nvSpPr>
          <p:cNvPr id="265" name="AutoShape 75">
            <a:extLst>
              <a:ext uri="{FF2B5EF4-FFF2-40B4-BE49-F238E27FC236}">
                <a16:creationId xmlns:a16="http://schemas.microsoft.com/office/drawing/2014/main" id="{622EB4AD-D92A-419F-BD2D-30642FEBD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642" y="3072612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2</a:t>
            </a:r>
          </a:p>
        </p:txBody>
      </p:sp>
      <p:sp>
        <p:nvSpPr>
          <p:cNvPr id="266" name="AutoShape 75">
            <a:extLst>
              <a:ext uri="{FF2B5EF4-FFF2-40B4-BE49-F238E27FC236}">
                <a16:creationId xmlns:a16="http://schemas.microsoft.com/office/drawing/2014/main" id="{B8DD3997-2CE2-48A0-906A-88F64276C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62" y="4936747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1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8B32DBC0-1C72-495A-8DE9-B68A3476ED21}"/>
              </a:ext>
            </a:extLst>
          </p:cNvPr>
          <p:cNvSpPr txBox="1"/>
          <p:nvPr/>
        </p:nvSpPr>
        <p:spPr>
          <a:xfrm>
            <a:off x="523458" y="5926744"/>
            <a:ext cx="6051657" cy="60016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100" dirty="0"/>
              <a:t>목적 </a:t>
            </a:r>
            <a:r>
              <a:rPr lang="en-US" altLang="ko-KR" sz="1100" dirty="0"/>
              <a:t>: </a:t>
            </a:r>
            <a:r>
              <a:rPr lang="ko-KR" altLang="en-US" sz="1100" dirty="0"/>
              <a:t>필요한 기능들을 모듈화 하여 </a:t>
            </a:r>
            <a:r>
              <a:rPr lang="en-US" altLang="ko-KR" sz="1100" b="1" dirty="0">
                <a:solidFill>
                  <a:srgbClr val="FF0000"/>
                </a:solidFill>
              </a:rPr>
              <a:t>API Control</a:t>
            </a:r>
            <a:r>
              <a:rPr lang="ko-KR" altLang="en-US" sz="1100" dirty="0"/>
              <a:t>에 의해 동작 되도록 처리 </a:t>
            </a:r>
            <a:r>
              <a:rPr lang="en-US" altLang="ko-KR" sz="1100" b="1" dirty="0">
                <a:solidFill>
                  <a:srgbClr val="FF0000"/>
                </a:solidFill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</a:rPr>
              <a:t>앱 연동 포함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sz="1100" dirty="0"/>
              <a:t>경쟁력 </a:t>
            </a:r>
            <a:r>
              <a:rPr lang="en-US" altLang="ko-KR" sz="1100" dirty="0"/>
              <a:t>: </a:t>
            </a:r>
            <a:r>
              <a:rPr lang="en-US" altLang="ko-KR" sz="1100" b="1" dirty="0">
                <a:solidFill>
                  <a:srgbClr val="FF0000"/>
                </a:solidFill>
              </a:rPr>
              <a:t>3</a:t>
            </a:r>
            <a:r>
              <a:rPr lang="en-US" altLang="ko-KR" sz="1100" b="1" baseline="30000" dirty="0">
                <a:solidFill>
                  <a:srgbClr val="FF0000"/>
                </a:solidFill>
              </a:rPr>
              <a:t>rd</a:t>
            </a:r>
            <a:r>
              <a:rPr lang="en-US" altLang="ko-KR" sz="1100" b="1" dirty="0">
                <a:solidFill>
                  <a:srgbClr val="FF0000"/>
                </a:solidFill>
              </a:rPr>
              <a:t> Library</a:t>
            </a:r>
            <a:r>
              <a:rPr lang="ko-KR" altLang="en-US" sz="1100" dirty="0"/>
              <a:t> 들을 미리 통합하여</a:t>
            </a:r>
            <a:r>
              <a:rPr lang="en-US" altLang="ko-KR" sz="1100" dirty="0"/>
              <a:t>, </a:t>
            </a:r>
            <a:r>
              <a:rPr lang="ko-KR" altLang="en-US" sz="1100" dirty="0"/>
              <a:t>타사 </a:t>
            </a:r>
            <a:r>
              <a:rPr lang="en-US" altLang="ko-KR" sz="1100" dirty="0"/>
              <a:t>SI </a:t>
            </a:r>
            <a:r>
              <a:rPr lang="ko-KR" altLang="en-US" sz="1100" dirty="0"/>
              <a:t>업체에 비해 빠른 일정에 처리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필요사항 </a:t>
            </a:r>
            <a:r>
              <a:rPr lang="en-US" altLang="ko-KR" sz="1100" dirty="0"/>
              <a:t>: </a:t>
            </a:r>
            <a:r>
              <a:rPr lang="en-US" altLang="ko-KR" sz="1100" b="1" dirty="0">
                <a:solidFill>
                  <a:srgbClr val="FF0000"/>
                </a:solidFill>
              </a:rPr>
              <a:t>3</a:t>
            </a:r>
            <a:r>
              <a:rPr lang="en-US" altLang="ko-KR" sz="1100" b="1" baseline="30000" dirty="0">
                <a:solidFill>
                  <a:srgbClr val="FF0000"/>
                </a:solidFill>
              </a:rPr>
              <a:t>rd</a:t>
            </a:r>
            <a:r>
              <a:rPr lang="en-US" altLang="ko-KR" sz="1100" b="1" dirty="0">
                <a:solidFill>
                  <a:srgbClr val="FF0000"/>
                </a:solidFill>
              </a:rPr>
              <a:t> Library</a:t>
            </a:r>
            <a:r>
              <a:rPr lang="en-US" altLang="ko-KR" sz="1100" dirty="0"/>
              <a:t> </a:t>
            </a:r>
            <a:r>
              <a:rPr lang="ko-KR" altLang="en-US" sz="1100" dirty="0"/>
              <a:t>업체를 통한 </a:t>
            </a:r>
            <a:r>
              <a:rPr lang="en-US" altLang="ko-KR" sz="1100" dirty="0"/>
              <a:t>Library</a:t>
            </a:r>
            <a:r>
              <a:rPr lang="ko-KR" altLang="en-US" sz="1100" dirty="0"/>
              <a:t>확보 및 기술 지원 필요 </a:t>
            </a:r>
            <a:r>
              <a:rPr lang="en-US" altLang="ko-KR" sz="1100" dirty="0"/>
              <a:t>(</a:t>
            </a:r>
            <a:r>
              <a:rPr lang="ko-KR" altLang="en-US" sz="1100" dirty="0"/>
              <a:t>구 페이지</a:t>
            </a:r>
            <a:r>
              <a:rPr lang="en-US" altLang="ko-KR" sz="1100" dirty="0"/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 SPA </a:t>
            </a:r>
            <a:r>
              <a:rPr lang="ko-KR" altLang="en-US" sz="1100" dirty="0">
                <a:sym typeface="Wingdings" panose="05000000000000000000" pitchFamily="2" charset="2"/>
              </a:rPr>
              <a:t>변경</a:t>
            </a:r>
            <a:r>
              <a:rPr lang="en-US" altLang="ko-KR" sz="1100" dirty="0">
                <a:sym typeface="Wingdings" panose="05000000000000000000" pitchFamily="2" charset="2"/>
              </a:rPr>
              <a:t>)</a:t>
            </a:r>
            <a:endParaRPr lang="en-US" altLang="ko-KR" sz="1100" baseline="30000" dirty="0"/>
          </a:p>
        </p:txBody>
      </p:sp>
      <p:sp>
        <p:nvSpPr>
          <p:cNvPr id="268" name="AutoShape 75">
            <a:extLst>
              <a:ext uri="{FF2B5EF4-FFF2-40B4-BE49-F238E27FC236}">
                <a16:creationId xmlns:a16="http://schemas.microsoft.com/office/drawing/2014/main" id="{B353D14E-8580-4417-A419-65A2265F9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630" y="5837885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2</a:t>
            </a:r>
          </a:p>
        </p:txBody>
      </p:sp>
      <p:sp>
        <p:nvSpPr>
          <p:cNvPr id="270" name="AutoShape 75">
            <a:extLst>
              <a:ext uri="{FF2B5EF4-FFF2-40B4-BE49-F238E27FC236}">
                <a16:creationId xmlns:a16="http://schemas.microsoft.com/office/drawing/2014/main" id="{36837CB5-6305-4F47-B789-751D2ABF0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689" y="4259729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2</a:t>
            </a:r>
          </a:p>
        </p:txBody>
      </p:sp>
      <p:sp>
        <p:nvSpPr>
          <p:cNvPr id="271" name="AutoShape 75">
            <a:extLst>
              <a:ext uri="{FF2B5EF4-FFF2-40B4-BE49-F238E27FC236}">
                <a16:creationId xmlns:a16="http://schemas.microsoft.com/office/drawing/2014/main" id="{7BBD39A9-8618-4CA6-9889-73828A385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370" y="1423465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3</a:t>
            </a: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20F75E6C-0A71-4831-9EAA-867EC59161EE}"/>
              </a:ext>
            </a:extLst>
          </p:cNvPr>
          <p:cNvSpPr/>
          <p:nvPr/>
        </p:nvSpPr>
        <p:spPr>
          <a:xfrm>
            <a:off x="1229542" y="1546282"/>
            <a:ext cx="1674991" cy="1455113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상태 관리</a:t>
            </a:r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8D722E44-546E-446F-B910-ED1EB27843D8}"/>
              </a:ext>
            </a:extLst>
          </p:cNvPr>
          <p:cNvSpPr/>
          <p:nvPr/>
        </p:nvSpPr>
        <p:spPr>
          <a:xfrm>
            <a:off x="1371599" y="2631976"/>
            <a:ext cx="1390688" cy="250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vue.js : </a:t>
            </a:r>
            <a:r>
              <a:rPr lang="en-US" altLang="ko-KR" sz="1000" dirty="0" err="1">
                <a:solidFill>
                  <a:schemeClr val="tx1"/>
                </a:solidFill>
              </a:rPr>
              <a:t>Pinia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A2BC9680-2E9F-4226-873B-3A555B85D7B1}"/>
              </a:ext>
            </a:extLst>
          </p:cNvPr>
          <p:cNvSpPr/>
          <p:nvPr/>
        </p:nvSpPr>
        <p:spPr>
          <a:xfrm>
            <a:off x="1371599" y="1854214"/>
            <a:ext cx="1390688" cy="25056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☑️</a:t>
            </a:r>
            <a:r>
              <a:rPr lang="ko-KR" altLang="en-US" sz="1000" dirty="0">
                <a:solidFill>
                  <a:srgbClr val="00B050"/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BXUI : Recoil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D5EC5615-98A2-489A-B312-22E17D7A491D}"/>
              </a:ext>
            </a:extLst>
          </p:cNvPr>
          <p:cNvSpPr/>
          <p:nvPr/>
        </p:nvSpPr>
        <p:spPr>
          <a:xfrm>
            <a:off x="1363313" y="2243844"/>
            <a:ext cx="1390688" cy="250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React </a:t>
            </a:r>
            <a:r>
              <a:rPr lang="ko-KR" altLang="en-US" sz="1000" dirty="0">
                <a:solidFill>
                  <a:schemeClr val="tx1"/>
                </a:solidFill>
              </a:rPr>
              <a:t>기반</a:t>
            </a:r>
            <a:r>
              <a:rPr lang="en-US" altLang="ko-KR" sz="1000" dirty="0">
                <a:solidFill>
                  <a:schemeClr val="tx1"/>
                </a:solidFill>
              </a:rPr>
              <a:t> : Redux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370BF71C-9518-4801-989C-E2D3A4406668}"/>
              </a:ext>
            </a:extLst>
          </p:cNvPr>
          <p:cNvSpPr/>
          <p:nvPr/>
        </p:nvSpPr>
        <p:spPr>
          <a:xfrm>
            <a:off x="1229542" y="3220771"/>
            <a:ext cx="1674991" cy="642523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API </a:t>
            </a:r>
            <a:r>
              <a:rPr lang="ko-KR" altLang="en-US" sz="1100" dirty="0">
                <a:solidFill>
                  <a:schemeClr val="bg1"/>
                </a:solidFill>
              </a:rPr>
              <a:t>통신</a:t>
            </a: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BFD83358-36B9-4934-B96D-3CC8FE0525E0}"/>
              </a:ext>
            </a:extLst>
          </p:cNvPr>
          <p:cNvSpPr/>
          <p:nvPr/>
        </p:nvSpPr>
        <p:spPr>
          <a:xfrm>
            <a:off x="1371599" y="3507057"/>
            <a:ext cx="1390688" cy="250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Axios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918016-32C1-4312-ABCA-4F60BABC5889}"/>
              </a:ext>
            </a:extLst>
          </p:cNvPr>
          <p:cNvSpPr txBox="1"/>
          <p:nvPr/>
        </p:nvSpPr>
        <p:spPr>
          <a:xfrm>
            <a:off x="6846478" y="5310832"/>
            <a:ext cx="5035594" cy="110799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100" b="1" dirty="0"/>
              <a:t>Spring Cloud Server </a:t>
            </a:r>
            <a:r>
              <a:rPr lang="ko-KR" altLang="en-US" sz="1100" b="1" dirty="0"/>
              <a:t>기술 기반 구조 </a:t>
            </a:r>
            <a:r>
              <a:rPr lang="en-US" altLang="ko-KR" sz="1100" b="1" dirty="0"/>
              <a:t>: MSA </a:t>
            </a:r>
            <a:r>
              <a:rPr lang="ko-KR" altLang="en-US" sz="1100" b="1" dirty="0"/>
              <a:t>아키텍처 구축 시 필요한 공통 문제들을 해결해주는 </a:t>
            </a:r>
            <a:r>
              <a:rPr lang="en-US" altLang="ko-KR" sz="1100" b="1" dirty="0"/>
              <a:t>Spring </a:t>
            </a:r>
            <a:r>
              <a:rPr lang="ko-KR" altLang="en-US" sz="1100" b="1" dirty="0"/>
              <a:t>기술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100" dirty="0"/>
              <a:t>API Gateway/</a:t>
            </a:r>
            <a:r>
              <a:rPr lang="ko-KR" altLang="en-US" sz="1100" dirty="0"/>
              <a:t>라우팅 </a:t>
            </a:r>
            <a:r>
              <a:rPr lang="en-US" altLang="ko-KR" sz="1100" dirty="0"/>
              <a:t>: </a:t>
            </a:r>
            <a:r>
              <a:rPr lang="ko-KR" altLang="en-US" sz="1100" dirty="0"/>
              <a:t>클라이언트 요청을 적절한 서비스로 전달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서비스 등록</a:t>
            </a:r>
            <a:r>
              <a:rPr lang="en-US" altLang="ko-KR" sz="1100" dirty="0"/>
              <a:t>/</a:t>
            </a:r>
            <a:r>
              <a:rPr lang="ko-KR" altLang="en-US" sz="1100" dirty="0"/>
              <a:t>발견</a:t>
            </a:r>
            <a:r>
              <a:rPr lang="en-US" altLang="ko-KR" sz="1100" dirty="0"/>
              <a:t>(Eureka)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서비스 인스턴스가 위치 관리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부하 분산</a:t>
            </a:r>
            <a:r>
              <a:rPr lang="en-US" altLang="ko-KR" sz="1100" dirty="0"/>
              <a:t>/</a:t>
            </a:r>
            <a:r>
              <a:rPr lang="ko-KR" altLang="en-US" sz="1100" dirty="0"/>
              <a:t>장애처리</a:t>
            </a:r>
            <a:r>
              <a:rPr lang="en-US" altLang="ko-KR" sz="1100" dirty="0"/>
              <a:t>/</a:t>
            </a:r>
            <a:r>
              <a:rPr lang="ko-KR" altLang="en-US" sz="1100" dirty="0"/>
              <a:t>모니터링 </a:t>
            </a:r>
            <a:r>
              <a:rPr lang="en-US" altLang="ko-KR" sz="1100" dirty="0"/>
              <a:t>: </a:t>
            </a:r>
            <a:r>
              <a:rPr lang="ko-KR" altLang="en-US" sz="1100" dirty="0"/>
              <a:t>고도화 시 확장</a:t>
            </a:r>
            <a:endParaRPr lang="en-US" altLang="ko-KR" sz="1100" dirty="0"/>
          </a:p>
          <a:p>
            <a:pPr marL="342900" indent="-342900">
              <a:buFontTx/>
              <a:buAutoNum type="arabicPeriod"/>
            </a:pPr>
            <a:r>
              <a:rPr lang="ko-KR" altLang="en-US" sz="1100" dirty="0"/>
              <a:t>향후 경량화 버전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추가 </a:t>
            </a:r>
            <a:r>
              <a:rPr lang="en-US" altLang="ko-KR" sz="1100" dirty="0"/>
              <a:t>: node.js </a:t>
            </a:r>
            <a:r>
              <a:rPr lang="ko-KR" altLang="en-US" sz="1100" dirty="0"/>
              <a:t>고려</a:t>
            </a:r>
            <a:endParaRPr lang="en-US" altLang="ko-KR" sz="1100" dirty="0"/>
          </a:p>
        </p:txBody>
      </p:sp>
      <p:sp>
        <p:nvSpPr>
          <p:cNvPr id="58" name="AutoShape 75">
            <a:extLst>
              <a:ext uri="{FF2B5EF4-FFF2-40B4-BE49-F238E27FC236}">
                <a16:creationId xmlns:a16="http://schemas.microsoft.com/office/drawing/2014/main" id="{B659374D-FC11-4548-920E-FEA77F7A7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726" y="5237124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3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62A0637-B845-4279-B6F1-E372FF6464B0}"/>
              </a:ext>
            </a:extLst>
          </p:cNvPr>
          <p:cNvSpPr/>
          <p:nvPr/>
        </p:nvSpPr>
        <p:spPr>
          <a:xfrm>
            <a:off x="8137642" y="2217638"/>
            <a:ext cx="882476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auth-core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0FA1B94-BB23-4E70-8436-C2DF007299E3}"/>
              </a:ext>
            </a:extLst>
          </p:cNvPr>
          <p:cNvSpPr/>
          <p:nvPr/>
        </p:nvSpPr>
        <p:spPr>
          <a:xfrm>
            <a:off x="9770067" y="1830804"/>
            <a:ext cx="1107307" cy="250535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Discovery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750F69A-12BF-4808-9568-B9AFE0FCA1A7}"/>
              </a:ext>
            </a:extLst>
          </p:cNvPr>
          <p:cNvSpPr/>
          <p:nvPr/>
        </p:nvSpPr>
        <p:spPr>
          <a:xfrm>
            <a:off x="9072903" y="2217638"/>
            <a:ext cx="882476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auth-svc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41E0D21-E2A7-413A-837A-BA62F96F2EB3}"/>
              </a:ext>
            </a:extLst>
          </p:cNvPr>
          <p:cNvSpPr/>
          <p:nvPr/>
        </p:nvSpPr>
        <p:spPr>
          <a:xfrm>
            <a:off x="10000055" y="2217638"/>
            <a:ext cx="882476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biz-svc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DFA2E3C-4F9D-40C9-A862-1218C0B08C8D}"/>
              </a:ext>
            </a:extLst>
          </p:cNvPr>
          <p:cNvSpPr/>
          <p:nvPr/>
        </p:nvSpPr>
        <p:spPr>
          <a:xfrm>
            <a:off x="8137641" y="2596246"/>
            <a:ext cx="1817737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config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EF627AD-390C-4781-A10C-8D150F731217}"/>
              </a:ext>
            </a:extLst>
          </p:cNvPr>
          <p:cNvSpPr/>
          <p:nvPr/>
        </p:nvSpPr>
        <p:spPr>
          <a:xfrm>
            <a:off x="9124430" y="3098124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서비스감지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1CC0797-78A1-40F5-8CA1-943ECAA55E54}"/>
              </a:ext>
            </a:extLst>
          </p:cNvPr>
          <p:cNvSpPr/>
          <p:nvPr/>
        </p:nvSpPr>
        <p:spPr>
          <a:xfrm>
            <a:off x="10136513" y="3098124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라우팅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5EE746C-9F0A-4A9E-928E-D212F6EDF187}"/>
              </a:ext>
            </a:extLst>
          </p:cNvPr>
          <p:cNvSpPr/>
          <p:nvPr/>
        </p:nvSpPr>
        <p:spPr>
          <a:xfrm>
            <a:off x="7098253" y="3365233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인증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인가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F6F7EC8-538C-4744-B1D7-82A0D054537D}"/>
              </a:ext>
            </a:extLst>
          </p:cNvPr>
          <p:cNvSpPr/>
          <p:nvPr/>
        </p:nvSpPr>
        <p:spPr>
          <a:xfrm>
            <a:off x="8112347" y="3365233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권한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A282868-D1A9-4B53-9D7C-CBBDD68006FC}"/>
              </a:ext>
            </a:extLst>
          </p:cNvPr>
          <p:cNvSpPr/>
          <p:nvPr/>
        </p:nvSpPr>
        <p:spPr>
          <a:xfrm>
            <a:off x="9124429" y="3365233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결제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정산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10D0DD9-C7E8-4406-B84E-D6BE077A83AE}"/>
              </a:ext>
            </a:extLst>
          </p:cNvPr>
          <p:cNvSpPr/>
          <p:nvPr/>
        </p:nvSpPr>
        <p:spPr>
          <a:xfrm>
            <a:off x="10136513" y="3365233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메시징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7D9536-90F8-4028-A4C1-939171BC0C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2124" y="2582213"/>
            <a:ext cx="928545" cy="27860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BA5D8B1-E819-43FC-AE61-5AAD3D1195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0608" y="1869668"/>
            <a:ext cx="525730" cy="368260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8698F20D-1275-45D7-9F18-0C989ABEE6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50608" y="1333106"/>
            <a:ext cx="611399" cy="51262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D4E7197-4E02-4E62-96CD-C8BC2A5AD2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2403" y="3978490"/>
            <a:ext cx="559604" cy="3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6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C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218D822-EB12-4E87-B4F1-7FD463B2251C}"/>
              </a:ext>
            </a:extLst>
          </p:cNvPr>
          <p:cNvSpPr/>
          <p:nvPr/>
        </p:nvSpPr>
        <p:spPr>
          <a:xfrm>
            <a:off x="2938726" y="1853120"/>
            <a:ext cx="6314549" cy="31517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Presentation Tier</a:t>
            </a:r>
          </a:p>
          <a:p>
            <a:pPr algn="ctr"/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(Front-End)</a:t>
            </a:r>
            <a:endParaRPr lang="ko-KR" altLang="en-US" sz="4000" dirty="0"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1C9E6EF-8E5A-424C-88F3-C4F780BD8E1D}"/>
              </a:ext>
            </a:extLst>
          </p:cNvPr>
          <p:cNvCxnSpPr>
            <a:cxnSpLocks/>
          </p:cNvCxnSpPr>
          <p:nvPr/>
        </p:nvCxnSpPr>
        <p:spPr>
          <a:xfrm>
            <a:off x="4666035" y="2276272"/>
            <a:ext cx="2859931" cy="0"/>
          </a:xfrm>
          <a:prstGeom prst="line">
            <a:avLst/>
          </a:prstGeom>
          <a:ln w="25400">
            <a:solidFill>
              <a:srgbClr val="A5C1C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88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2">
            <a:extLst>
              <a:ext uri="{FF2B5EF4-FFF2-40B4-BE49-F238E27FC236}">
                <a16:creationId xmlns:a16="http://schemas.microsoft.com/office/drawing/2014/main" id="{2A76CA68-FC05-48E8-81FE-7E91825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550332"/>
            <a:ext cx="10071947" cy="533401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2800" dirty="0"/>
              <a:t>인증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E29875-BB98-4737-99E6-BC5C69E5CB04}"/>
              </a:ext>
            </a:extLst>
          </p:cNvPr>
          <p:cNvSpPr txBox="1"/>
          <p:nvPr/>
        </p:nvSpPr>
        <p:spPr>
          <a:xfrm>
            <a:off x="698249" y="2483827"/>
            <a:ext cx="2159566" cy="110799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ko-KR" altLang="en-US" sz="1100" dirty="0"/>
              <a:t>정리할 인증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사설인증 </a:t>
            </a:r>
            <a:r>
              <a:rPr lang="en-US" altLang="ko-KR" sz="1100" dirty="0"/>
              <a:t>(</a:t>
            </a:r>
            <a:r>
              <a:rPr lang="ko-KR" altLang="en-US" sz="1100" dirty="0"/>
              <a:t>간편인증</a:t>
            </a:r>
            <a:r>
              <a:rPr lang="en-US" altLang="ko-KR" sz="1100" dirty="0"/>
              <a:t>)</a:t>
            </a:r>
          </a:p>
          <a:p>
            <a:pPr marL="800100" lvl="1" indent="-342900">
              <a:buAutoNum type="arabicPeriod"/>
            </a:pPr>
            <a:r>
              <a:rPr lang="ko-KR" altLang="en-US" sz="1100" dirty="0"/>
              <a:t>카카오</a:t>
            </a:r>
            <a:r>
              <a:rPr lang="en-US" altLang="ko-KR" sz="1100" dirty="0"/>
              <a:t> / </a:t>
            </a:r>
            <a:r>
              <a:rPr lang="ko-KR" altLang="en-US" sz="1100" dirty="0"/>
              <a:t>네이버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 err="1"/>
              <a:t>키패트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웹</a:t>
            </a:r>
            <a:r>
              <a:rPr lang="en-US" altLang="ko-KR" sz="1100" dirty="0"/>
              <a:t>, </a:t>
            </a:r>
            <a:r>
              <a:rPr lang="ko-KR" altLang="en-US" sz="1100" dirty="0"/>
              <a:t>앱</a:t>
            </a:r>
            <a:r>
              <a:rPr lang="en-US" altLang="ko-KR" sz="1100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100" dirty="0"/>
              <a:t>공동인증서 </a:t>
            </a:r>
            <a:r>
              <a:rPr lang="en-US" altLang="ko-KR" sz="1100" dirty="0"/>
              <a:t>(</a:t>
            </a:r>
            <a:r>
              <a:rPr lang="ko-KR" altLang="en-US" sz="1100" dirty="0"/>
              <a:t>웹</a:t>
            </a:r>
            <a:r>
              <a:rPr lang="en-US" altLang="ko-KR" sz="1100" dirty="0"/>
              <a:t>,</a:t>
            </a:r>
            <a:r>
              <a:rPr lang="ko-KR" altLang="en-US" sz="1100" dirty="0"/>
              <a:t> 앱</a:t>
            </a:r>
            <a:r>
              <a:rPr lang="en-US" altLang="ko-KR" sz="1100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100" dirty="0"/>
              <a:t>생체인증서 </a:t>
            </a:r>
            <a:r>
              <a:rPr lang="en-US" altLang="ko-KR" sz="1100" dirty="0"/>
              <a:t>(</a:t>
            </a:r>
            <a:r>
              <a:rPr lang="ko-KR" altLang="en-US" sz="1100" dirty="0"/>
              <a:t>앱 기반 처리</a:t>
            </a:r>
            <a:r>
              <a:rPr lang="en-US" altLang="ko-KR" sz="1100" dirty="0"/>
              <a:t>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A3EB76C-0F82-4E32-A249-2F991267F6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80831" y="1234325"/>
          <a:ext cx="9700809" cy="609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64268">
                  <a:extLst>
                    <a:ext uri="{9D8B030D-6E8A-4147-A177-3AD203B41FA5}">
                      <a16:colId xmlns:a16="http://schemas.microsoft.com/office/drawing/2014/main" val="89777674"/>
                    </a:ext>
                  </a:extLst>
                </a:gridCol>
                <a:gridCol w="3774141">
                  <a:extLst>
                    <a:ext uri="{9D8B030D-6E8A-4147-A177-3AD203B41FA5}">
                      <a16:colId xmlns:a16="http://schemas.microsoft.com/office/drawing/2014/main" val="817302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309234095"/>
                    </a:ext>
                  </a:extLst>
                </a:gridCol>
              </a:tblGrid>
              <a:tr h="1794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카카오싸인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바로써트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구</a:t>
                      </a:r>
                      <a:r>
                        <a:rPr lang="en-US" altLang="ko-KR" sz="1400" dirty="0"/>
                        <a:t>.</a:t>
                      </a:r>
                      <a:r>
                        <a:rPr lang="ko-KR" altLang="en-US" sz="1400" dirty="0" err="1"/>
                        <a:t>카카오써트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374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통합 인증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카카오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네이버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패스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토스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카카오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네이버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패스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829158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0383A69-9B9D-4601-8469-FDBF65F58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652" y="2092967"/>
            <a:ext cx="7154416" cy="39746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2AED9E-6001-4148-A1A5-8DD94714C116}"/>
              </a:ext>
            </a:extLst>
          </p:cNvPr>
          <p:cNvSpPr txBox="1"/>
          <p:nvPr/>
        </p:nvSpPr>
        <p:spPr>
          <a:xfrm>
            <a:off x="5814906" y="2483827"/>
            <a:ext cx="239039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구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r>
              <a:rPr lang="ko-KR" altLang="en-US" dirty="0" err="1">
                <a:solidFill>
                  <a:srgbClr val="FF0000"/>
                </a:solidFill>
              </a:rPr>
              <a:t>카카오서트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요금표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95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218D822-EB12-4E87-B4F1-7FD463B2251C}"/>
              </a:ext>
            </a:extLst>
          </p:cNvPr>
          <p:cNvSpPr/>
          <p:nvPr/>
        </p:nvSpPr>
        <p:spPr>
          <a:xfrm>
            <a:off x="2938726" y="1853120"/>
            <a:ext cx="6314549" cy="31517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Business Tier</a:t>
            </a:r>
          </a:p>
          <a:p>
            <a:pPr algn="ctr"/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(Back-End)</a:t>
            </a:r>
            <a:endParaRPr lang="ko-KR" altLang="en-US" sz="4000" dirty="0"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1C9E6EF-8E5A-424C-88F3-C4F780BD8E1D}"/>
              </a:ext>
            </a:extLst>
          </p:cNvPr>
          <p:cNvCxnSpPr>
            <a:cxnSpLocks/>
          </p:cNvCxnSpPr>
          <p:nvPr/>
        </p:nvCxnSpPr>
        <p:spPr>
          <a:xfrm>
            <a:off x="4666035" y="2276272"/>
            <a:ext cx="2859931" cy="0"/>
          </a:xfrm>
          <a:prstGeom prst="line">
            <a:avLst/>
          </a:prstGeom>
          <a:ln w="25400">
            <a:solidFill>
              <a:srgbClr val="A5C1C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94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0" rIns="254000" tIns="50800" bIns="50800"/>
          <a:lstStyle/>
          <a:p>
            <a:pPr algn="l"/>
            <a:r>
              <a:rPr sz="2200" b="1">
                <a:solidFill>
                  <a:srgbClr val="FFFFFF"/>
                </a:solidFill>
              </a:rPr>
              <a:t>프로젝트 구조 (monorepo)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7769FF-024B-4504-B3B3-DEC6EFD72FBC}"/>
              </a:ext>
            </a:extLst>
          </p:cNvPr>
          <p:cNvSpPr/>
          <p:nvPr/>
        </p:nvSpPr>
        <p:spPr>
          <a:xfrm>
            <a:off x="778933" y="1251372"/>
            <a:ext cx="397594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bx-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cf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-be/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project-root/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# root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전체 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dependency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관리 가능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settings.gradle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모듈 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include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 #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wrapper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resources/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config/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각프로젝트 설정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공통 리소스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common/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공통 모듈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/channel/backend/common/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dto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exception/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util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resources/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application.yml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auth-core/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인증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인가 공통 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authcore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filter/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provider/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service/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util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604B81-D3F0-4491-B36F-C0E276D6430C}"/>
              </a:ext>
            </a:extLst>
          </p:cNvPr>
          <p:cNvSpPr/>
          <p:nvPr/>
        </p:nvSpPr>
        <p:spPr>
          <a:xfrm>
            <a:off x="4754880" y="1469758"/>
            <a:ext cx="35433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auth-svc/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인증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인가 서비스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authsvc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AuthServiceApplication.java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cmm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controller/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service/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repository/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security/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product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-svc/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/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상품 관리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서비스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가칭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endParaRPr lang="ko-KR" altLang="en-US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product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ProductServiceApplication.java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cmm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controller/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service/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repository/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biz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-svc/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업무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서비스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가칭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endParaRPr lang="ko-KR" altLang="en-US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biz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BizServiceApplication.java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cmm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controller/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service/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repository/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07D341-9145-4498-8888-BD99C67DA80E}"/>
              </a:ext>
            </a:extLst>
          </p:cNvPr>
          <p:cNvSpPr/>
          <p:nvPr/>
        </p:nvSpPr>
        <p:spPr>
          <a:xfrm>
            <a:off x="7924800" y="1469758"/>
            <a:ext cx="342138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api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-gateway/ # API Gateway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/channel/backend/gateway/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ApiGatewayApplication.java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cmm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└─ discovery-svc/ # Service Discovery (Eureka)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/channel/backend/discovery/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DiscoveryServiceApplication.java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528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0" rIns="254000" tIns="50800" bIns="50800"/>
          <a:lstStyle/>
          <a:p>
            <a:pPr algn="l"/>
            <a:r>
              <a:rPr sz="2200" b="1">
                <a:solidFill>
                  <a:srgbClr val="FFFFFF"/>
                </a:solidFill>
              </a:rPr>
              <a:t>Spring Cloud Server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0160748-BF7D-436B-986E-967F89C3E127}"/>
              </a:ext>
            </a:extLst>
          </p:cNvPr>
          <p:cNvSpPr/>
          <p:nvPr/>
        </p:nvSpPr>
        <p:spPr>
          <a:xfrm>
            <a:off x="1688606" y="2602149"/>
            <a:ext cx="1395061" cy="1259637"/>
          </a:xfrm>
          <a:prstGeom prst="roundRect">
            <a:avLst/>
          </a:prstGeom>
          <a:solidFill>
            <a:srgbClr val="FFCC99">
              <a:alpha val="6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latin typeface="+mj-ea"/>
                <a:ea typeface="+mj-ea"/>
              </a:rPr>
              <a:t>API</a:t>
            </a:r>
          </a:p>
          <a:p>
            <a:pPr algn="ctr"/>
            <a:r>
              <a:rPr lang="en-US" altLang="ko-KR" sz="1500" b="1" dirty="0">
                <a:latin typeface="+mj-ea"/>
                <a:ea typeface="+mj-ea"/>
              </a:rPr>
              <a:t>Gateway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12ADBFC-0C80-4FA2-9C09-014E9BE3E9A6}"/>
              </a:ext>
            </a:extLst>
          </p:cNvPr>
          <p:cNvSpPr/>
          <p:nvPr/>
        </p:nvSpPr>
        <p:spPr>
          <a:xfrm>
            <a:off x="7067539" y="1464011"/>
            <a:ext cx="1395061" cy="1259637"/>
          </a:xfrm>
          <a:prstGeom prst="roundRect">
            <a:avLst/>
          </a:prstGeom>
          <a:solidFill>
            <a:srgbClr val="DAEDF6"/>
          </a:solidFill>
          <a:ln w="25400"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latin typeface="+mj-ea"/>
                <a:ea typeface="+mj-ea"/>
              </a:rPr>
              <a:t>Discovery</a:t>
            </a:r>
          </a:p>
          <a:p>
            <a:pPr algn="ctr"/>
            <a:r>
              <a:rPr lang="en-US" altLang="ko-KR" sz="1500" b="1" dirty="0">
                <a:latin typeface="+mj-ea"/>
                <a:ea typeface="+mj-ea"/>
              </a:rPr>
              <a:t>Service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1AD9A33-3D36-4B07-B0EF-F08122BB1959}"/>
              </a:ext>
            </a:extLst>
          </p:cNvPr>
          <p:cNvSpPr/>
          <p:nvPr/>
        </p:nvSpPr>
        <p:spPr>
          <a:xfrm>
            <a:off x="6595746" y="4159182"/>
            <a:ext cx="2319189" cy="1006720"/>
          </a:xfrm>
          <a:prstGeom prst="roundRect">
            <a:avLst/>
          </a:prstGeom>
          <a:solidFill>
            <a:srgbClr val="CCFF99">
              <a:alpha val="60000"/>
            </a:srgb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latin typeface="+mj-ea"/>
                <a:ea typeface="+mj-ea"/>
              </a:rPr>
              <a:t>Microservices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06C14-C6DD-42D3-B0EB-8B1244A21EC3}"/>
              </a:ext>
            </a:extLst>
          </p:cNvPr>
          <p:cNvSpPr txBox="1"/>
          <p:nvPr/>
        </p:nvSpPr>
        <p:spPr>
          <a:xfrm>
            <a:off x="402386" y="4126649"/>
            <a:ext cx="4286171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500" b="1" dirty="0">
                <a:latin typeface="+mj-ea"/>
                <a:ea typeface="+mj-ea"/>
              </a:rPr>
              <a:t>Client -&gt; API Gateway</a:t>
            </a:r>
          </a:p>
          <a:p>
            <a:r>
              <a:rPr lang="en-US" altLang="ko-KR" sz="1500" b="1" dirty="0">
                <a:latin typeface="+mj-ea"/>
                <a:ea typeface="+mj-ea"/>
              </a:rPr>
              <a:t>-&gt; </a:t>
            </a:r>
            <a:r>
              <a:rPr lang="en-US" altLang="ko-KR" sz="1500" b="1" dirty="0" err="1">
                <a:latin typeface="+mj-ea"/>
                <a:ea typeface="+mj-ea"/>
              </a:rPr>
              <a:t>Micoroservices</a:t>
            </a:r>
            <a:endParaRPr lang="en-US" altLang="ko-KR" sz="15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C0D1B-FC45-4EEE-8542-DDC01A480274}"/>
              </a:ext>
            </a:extLst>
          </p:cNvPr>
          <p:cNvSpPr txBox="1"/>
          <p:nvPr/>
        </p:nvSpPr>
        <p:spPr>
          <a:xfrm>
            <a:off x="7369838" y="3158540"/>
            <a:ext cx="4286171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500" b="1" dirty="0">
                <a:latin typeface="+mj-ea"/>
                <a:ea typeface="+mj-ea"/>
              </a:rPr>
              <a:t>Discovery Service -&gt; Microservices</a:t>
            </a:r>
          </a:p>
          <a:p>
            <a:r>
              <a:rPr lang="en-US" altLang="ko-KR" sz="1500" b="1" dirty="0">
                <a:latin typeface="+mj-ea"/>
                <a:ea typeface="+mj-ea"/>
              </a:rPr>
              <a:t>(</a:t>
            </a:r>
            <a:r>
              <a:rPr lang="ko-KR" altLang="en-US" sz="1500" b="1" dirty="0">
                <a:latin typeface="+mj-ea"/>
                <a:ea typeface="+mj-ea"/>
              </a:rPr>
              <a:t>등록 </a:t>
            </a:r>
            <a:r>
              <a:rPr lang="en-US" altLang="ko-KR" sz="1500" b="1" dirty="0">
                <a:latin typeface="+mj-ea"/>
                <a:ea typeface="+mj-ea"/>
              </a:rPr>
              <a:t>/ </a:t>
            </a:r>
            <a:r>
              <a:rPr lang="ko-KR" altLang="en-US" sz="1500" b="1" dirty="0">
                <a:latin typeface="+mj-ea"/>
                <a:ea typeface="+mj-ea"/>
              </a:rPr>
              <a:t>감지</a:t>
            </a:r>
            <a:r>
              <a:rPr lang="en-US" altLang="ko-KR" sz="1500" b="1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65D8AE13-7AC4-4E78-B6B0-5221D5051E04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3083667" y="2093830"/>
            <a:ext cx="3983872" cy="1138138"/>
          </a:xfrm>
          <a:prstGeom prst="curvedConnector3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2123CAF-4F7D-420A-AAEE-7BEA32429236}"/>
              </a:ext>
            </a:extLst>
          </p:cNvPr>
          <p:cNvSpPr txBox="1"/>
          <p:nvPr/>
        </p:nvSpPr>
        <p:spPr>
          <a:xfrm>
            <a:off x="2781368" y="2156497"/>
            <a:ext cx="4286171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500" b="1" dirty="0">
                <a:latin typeface="+mj-ea"/>
                <a:ea typeface="+mj-ea"/>
              </a:rPr>
              <a:t>Router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847035B-4162-4C41-B61D-ABB1A892211A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4869929" y="2936724"/>
            <a:ext cx="1923999" cy="1527635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DBEE010-7D13-4F99-A348-67649C01C58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55341" y="2723648"/>
            <a:ext cx="9729" cy="1435534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5EEF7A-40C5-4912-98F3-00789815AEFF}"/>
              </a:ext>
            </a:extLst>
          </p:cNvPr>
          <p:cNvSpPr txBox="1"/>
          <p:nvPr/>
        </p:nvSpPr>
        <p:spPr>
          <a:xfrm>
            <a:off x="778933" y="2093829"/>
            <a:ext cx="3092646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ko-KR" altLang="en-US" sz="1500" b="1" dirty="0">
                <a:latin typeface="+mj-ea"/>
                <a:ea typeface="+mj-ea"/>
              </a:rPr>
              <a:t>단일 </a:t>
            </a:r>
            <a:r>
              <a:rPr lang="ko-KR" altLang="en-US" sz="1500" b="1" dirty="0" err="1">
                <a:latin typeface="+mj-ea"/>
                <a:ea typeface="+mj-ea"/>
              </a:rPr>
              <a:t>진입점</a:t>
            </a:r>
            <a:r>
              <a:rPr lang="en-US" altLang="ko-KR" sz="1500" b="1" dirty="0">
                <a:latin typeface="+mj-ea"/>
                <a:ea typeface="+mj-ea"/>
              </a:rPr>
              <a:t>(Single Entry Point)</a:t>
            </a:r>
            <a:endParaRPr lang="en-US" altLang="ko-KR" sz="1500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9CEE22-5E1F-47E2-9398-BA5677F364F6}"/>
              </a:ext>
            </a:extLst>
          </p:cNvPr>
          <p:cNvSpPr txBox="1"/>
          <p:nvPr/>
        </p:nvSpPr>
        <p:spPr>
          <a:xfrm>
            <a:off x="576790" y="5265371"/>
            <a:ext cx="4938793" cy="103105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API Gateway – </a:t>
            </a:r>
            <a:r>
              <a:rPr lang="ko-KR" altLang="en-US" sz="1200" dirty="0">
                <a:latin typeface="+mj-ea"/>
                <a:ea typeface="+mj-ea"/>
              </a:rPr>
              <a:t>내외부를 잇는 관문</a:t>
            </a:r>
            <a:endParaRPr lang="en-US" altLang="ko-KR" sz="12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Discovery Service – </a:t>
            </a:r>
            <a:r>
              <a:rPr lang="ko-KR" altLang="en-US" sz="1200" dirty="0">
                <a:latin typeface="+mj-ea"/>
                <a:ea typeface="+mj-ea"/>
              </a:rPr>
              <a:t>주소록 </a:t>
            </a:r>
            <a:r>
              <a:rPr lang="en-US" altLang="ko-KR" sz="1200" dirty="0">
                <a:latin typeface="+mj-ea"/>
                <a:ea typeface="+mj-ea"/>
              </a:rPr>
              <a:t>&amp; </a:t>
            </a:r>
            <a:r>
              <a:rPr lang="ko-KR" altLang="en-US" sz="1200" dirty="0">
                <a:latin typeface="+mj-ea"/>
                <a:ea typeface="+mj-ea"/>
              </a:rPr>
              <a:t>교환</a:t>
            </a:r>
            <a:endParaRPr lang="en-US" altLang="ko-KR" sz="12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j-ea"/>
                <a:ea typeface="+mj-ea"/>
              </a:rPr>
              <a:t>Microserivces</a:t>
            </a:r>
            <a:r>
              <a:rPr lang="en-US" altLang="ko-KR" sz="1200" dirty="0">
                <a:latin typeface="+mj-ea"/>
                <a:ea typeface="+mj-ea"/>
              </a:rPr>
              <a:t> – </a:t>
            </a:r>
            <a:r>
              <a:rPr lang="ko-KR" altLang="en-US" sz="1200" dirty="0">
                <a:latin typeface="+mj-ea"/>
                <a:ea typeface="+mj-ea"/>
              </a:rPr>
              <a:t>독립 비즈니스 로직 담당 (auth-svc · product-svc)</a:t>
            </a:r>
            <a:endParaRPr lang="en-US" altLang="ko-KR" sz="1200" dirty="0">
              <a:latin typeface="+mj-ea"/>
              <a:ea typeface="+mj-ea"/>
            </a:endParaRPr>
          </a:p>
          <a:p>
            <a:endParaRPr lang="en-US" altLang="ko-KR" sz="1200" dirty="0">
              <a:latin typeface="+mj-ea"/>
              <a:ea typeface="+mj-ea"/>
            </a:endParaRPr>
          </a:p>
          <a:p>
            <a:r>
              <a:rPr lang="en-US" altLang="ko-KR" sz="1300" b="1" dirty="0">
                <a:latin typeface="+mj-ea"/>
                <a:ea typeface="+mj-ea"/>
              </a:rPr>
              <a:t>  *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서로 긴밀히 연결</a:t>
            </a:r>
            <a:r>
              <a:rPr lang="ko-KR" altLang="en-US" sz="1200" dirty="0">
                <a:latin typeface="+mj-ea"/>
                <a:ea typeface="+mj-ea"/>
              </a:rPr>
              <a:t>되어 서비스 전체의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유연성</a:t>
            </a:r>
            <a:r>
              <a:rPr lang="ko-KR" altLang="en-US" sz="1200" dirty="0">
                <a:latin typeface="+mj-ea"/>
                <a:ea typeface="+mj-ea"/>
              </a:rPr>
              <a:t>과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확장성</a:t>
            </a:r>
            <a:r>
              <a:rPr lang="ko-KR" altLang="en-US" sz="1200" dirty="0">
                <a:latin typeface="+mj-ea"/>
                <a:ea typeface="+mj-ea"/>
              </a:rPr>
              <a:t>을 책임진다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048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0" rIns="254000" tIns="50800" bIns="50800"/>
          <a:lstStyle/>
          <a:p>
            <a:pPr algn="l"/>
            <a:r>
              <a:rPr sz="2200" b="1">
                <a:solidFill>
                  <a:srgbClr val="FFFFFF"/>
                </a:solidFill>
              </a:rPr>
              <a:t>API Gateway - 토큰발급요청(auth-svc)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C722636-DDB0-4EA0-880A-B9A49BAF0B87}"/>
              </a:ext>
            </a:extLst>
          </p:cNvPr>
          <p:cNvSpPr/>
          <p:nvPr/>
        </p:nvSpPr>
        <p:spPr>
          <a:xfrm>
            <a:off x="2141080" y="1712858"/>
            <a:ext cx="156290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Request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101BDB-53A6-4595-A1FF-D76A11AB7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339" y="1939577"/>
            <a:ext cx="731583" cy="104403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A83478-87F9-4CD5-AFEB-D23382441A0F}"/>
              </a:ext>
            </a:extLst>
          </p:cNvPr>
          <p:cNvSpPr/>
          <p:nvPr/>
        </p:nvSpPr>
        <p:spPr>
          <a:xfrm>
            <a:off x="2141080" y="2166295"/>
            <a:ext cx="1562901" cy="908209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토큰발급요청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76880B5-16D7-446B-AF56-BA0ED09C35B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703981" y="2620400"/>
            <a:ext cx="34541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185A6241-9446-4766-B393-E1C252B6D701}"/>
              </a:ext>
            </a:extLst>
          </p:cNvPr>
          <p:cNvSpPr/>
          <p:nvPr/>
        </p:nvSpPr>
        <p:spPr>
          <a:xfrm>
            <a:off x="7052611" y="2196339"/>
            <a:ext cx="1651730" cy="857352"/>
          </a:xfrm>
          <a:prstGeom prst="flowChartDecision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+mj-ea"/>
                <a:ea typeface="+mj-ea"/>
              </a:rPr>
              <a:t>유효한</a:t>
            </a:r>
            <a:endParaRPr lang="en-US" altLang="ko-KR" sz="1000" dirty="0">
              <a:latin typeface="+mj-ea"/>
              <a:ea typeface="+mj-ea"/>
            </a:endParaRPr>
          </a:p>
          <a:p>
            <a:pPr algn="ctr"/>
            <a:r>
              <a:rPr lang="ko-KR" altLang="en-US" sz="1000" dirty="0">
                <a:latin typeface="+mj-ea"/>
                <a:ea typeface="+mj-ea"/>
              </a:rPr>
              <a:t>사용자인가</a:t>
            </a:r>
            <a:r>
              <a:rPr lang="en-US" altLang="ko-KR" sz="1000" dirty="0">
                <a:latin typeface="+mj-ea"/>
                <a:ea typeface="+mj-ea"/>
              </a:rPr>
              <a:t>?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38AB73-3EDA-4DBC-8F8D-60ABA555C765}"/>
              </a:ext>
            </a:extLst>
          </p:cNvPr>
          <p:cNvSpPr/>
          <p:nvPr/>
        </p:nvSpPr>
        <p:spPr>
          <a:xfrm>
            <a:off x="4049393" y="2165859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Auth-svc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79BA66E-E5CB-49C7-A201-50F4EC143521}"/>
              </a:ext>
            </a:extLst>
          </p:cNvPr>
          <p:cNvSpPr/>
          <p:nvPr/>
        </p:nvSpPr>
        <p:spPr>
          <a:xfrm>
            <a:off x="4049393" y="2619297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사용자 식별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8485E7C-703F-41EF-9FAF-44C47FA9B2FA}"/>
              </a:ext>
            </a:extLst>
          </p:cNvPr>
          <p:cNvCxnSpPr>
            <a:cxnSpLocks/>
          </p:cNvCxnSpPr>
          <p:nvPr/>
        </p:nvCxnSpPr>
        <p:spPr>
          <a:xfrm>
            <a:off x="4873790" y="3099049"/>
            <a:ext cx="0" cy="4727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0674775-8C27-400B-A887-4E944902D8E8}"/>
              </a:ext>
            </a:extLst>
          </p:cNvPr>
          <p:cNvSpPr/>
          <p:nvPr/>
        </p:nvSpPr>
        <p:spPr>
          <a:xfrm>
            <a:off x="9324932" y="2109610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Auth-core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F88655E-D6F6-4E9D-B88D-9FADFB060D53}"/>
              </a:ext>
            </a:extLst>
          </p:cNvPr>
          <p:cNvSpPr/>
          <p:nvPr/>
        </p:nvSpPr>
        <p:spPr>
          <a:xfrm>
            <a:off x="9324932" y="2563047"/>
            <a:ext cx="1781564" cy="680495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JwtUtil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토큰 발급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8221B3C7-BFEF-4AA9-A5AB-3360A772E36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704341" y="2625015"/>
            <a:ext cx="62059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69DCEBE-0B17-4C71-90FE-E5E92FC1DE48}"/>
              </a:ext>
            </a:extLst>
          </p:cNvPr>
          <p:cNvSpPr txBox="1"/>
          <p:nvPr/>
        </p:nvSpPr>
        <p:spPr>
          <a:xfrm>
            <a:off x="8742441" y="2317032"/>
            <a:ext cx="405752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Yes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99A855-D2DE-4C1B-854A-0B2926DEA0CE}"/>
              </a:ext>
            </a:extLst>
          </p:cNvPr>
          <p:cNvSpPr txBox="1"/>
          <p:nvPr/>
        </p:nvSpPr>
        <p:spPr>
          <a:xfrm>
            <a:off x="7483816" y="3129529"/>
            <a:ext cx="394660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No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0DF7C3-29A6-4033-988F-293BC7C1AAFD}"/>
              </a:ext>
            </a:extLst>
          </p:cNvPr>
          <p:cNvSpPr txBox="1"/>
          <p:nvPr/>
        </p:nvSpPr>
        <p:spPr>
          <a:xfrm>
            <a:off x="887270" y="2935875"/>
            <a:ext cx="1322798" cy="646331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ko-KR" altLang="en-US" sz="1200" dirty="0">
                <a:latin typeface="+mj-ea"/>
                <a:ea typeface="+mj-ea"/>
              </a:rPr>
              <a:t>아이디</a:t>
            </a:r>
            <a:r>
              <a:rPr lang="en-US" altLang="ko-KR" sz="1200" dirty="0">
                <a:latin typeface="+mj-ea"/>
                <a:ea typeface="+mj-ea"/>
              </a:rPr>
              <a:t>/</a:t>
            </a:r>
            <a:r>
              <a:rPr lang="ko-KR" altLang="en-US" sz="1200" dirty="0">
                <a:latin typeface="+mj-ea"/>
                <a:ea typeface="+mj-ea"/>
              </a:rPr>
              <a:t>패스워드</a:t>
            </a:r>
            <a:endParaRPr lang="en-US" altLang="ko-KR" sz="1200" dirty="0">
              <a:latin typeface="+mj-ea"/>
              <a:ea typeface="+mj-ea"/>
            </a:endParaRPr>
          </a:p>
          <a:p>
            <a:r>
              <a:rPr lang="ko-KR" altLang="en-US" sz="1200" dirty="0">
                <a:latin typeface="+mj-ea"/>
                <a:ea typeface="+mj-ea"/>
              </a:rPr>
              <a:t>생체인식</a:t>
            </a:r>
            <a:endParaRPr lang="en-US" altLang="ko-KR" sz="1200" dirty="0">
              <a:latin typeface="+mj-ea"/>
              <a:ea typeface="+mj-ea"/>
            </a:endParaRPr>
          </a:p>
          <a:p>
            <a:r>
              <a:rPr lang="en-US" altLang="ko-KR" sz="1200" dirty="0">
                <a:latin typeface="+mj-ea"/>
                <a:ea typeface="+mj-ea"/>
              </a:rPr>
              <a:t>OTP </a:t>
            </a:r>
            <a:r>
              <a:rPr lang="ko-KR" altLang="en-US" sz="1200" dirty="0">
                <a:latin typeface="+mj-ea"/>
                <a:ea typeface="+mj-ea"/>
              </a:rPr>
              <a:t>등등</a:t>
            </a:r>
            <a:r>
              <a:rPr lang="en-US" altLang="ko-KR" sz="1200" dirty="0">
                <a:latin typeface="+mj-ea"/>
                <a:ea typeface="+mj-ea"/>
              </a:rPr>
              <a:t>…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2" name="원통형 1">
            <a:extLst>
              <a:ext uri="{FF2B5EF4-FFF2-40B4-BE49-F238E27FC236}">
                <a16:creationId xmlns:a16="http://schemas.microsoft.com/office/drawing/2014/main" id="{6347DB44-E29C-4E57-BBB1-2B124D3B4D83}"/>
              </a:ext>
            </a:extLst>
          </p:cNvPr>
          <p:cNvSpPr/>
          <p:nvPr/>
        </p:nvSpPr>
        <p:spPr>
          <a:xfrm>
            <a:off x="4330457" y="3571810"/>
            <a:ext cx="1239065" cy="835871"/>
          </a:xfrm>
          <a:prstGeom prst="can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사용자정보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F94CF37-3064-4B0A-B986-A8F8A9A93BC7}"/>
              </a:ext>
            </a:extLst>
          </p:cNvPr>
          <p:cNvSpPr/>
          <p:nvPr/>
        </p:nvSpPr>
        <p:spPr>
          <a:xfrm>
            <a:off x="7103339" y="3482367"/>
            <a:ext cx="1562902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 err="1">
                <a:solidFill>
                  <a:schemeClr val="tx1"/>
                </a:solidFill>
                <a:latin typeface="+mj-ea"/>
                <a:ea typeface="+mj-ea"/>
              </a:rPr>
              <a:t>UnAuthorized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9FB5099-306C-44C5-9119-CF274FE5071E}"/>
              </a:ext>
            </a:extLst>
          </p:cNvPr>
          <p:cNvSpPr/>
          <p:nvPr/>
        </p:nvSpPr>
        <p:spPr>
          <a:xfrm>
            <a:off x="7103339" y="3935805"/>
            <a:ext cx="1562902" cy="629870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WebFluxCustomAuthEntryPoint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401 </a:t>
            </a:r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UnAuthorized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144D9D6-67B6-4BB3-AEE7-46092A1A56DC}"/>
              </a:ext>
            </a:extLst>
          </p:cNvPr>
          <p:cNvCxnSpPr>
            <a:cxnSpLocks/>
            <a:stCxn id="14" idx="2"/>
            <a:endCxn id="43" idx="0"/>
          </p:cNvCxnSpPr>
          <p:nvPr/>
        </p:nvCxnSpPr>
        <p:spPr>
          <a:xfrm>
            <a:off x="7878476" y="3053691"/>
            <a:ext cx="6314" cy="4286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DB1667B-408E-4475-840F-FEA733A52541}"/>
              </a:ext>
            </a:extLst>
          </p:cNvPr>
          <p:cNvCxnSpPr>
            <a:cxnSpLocks/>
          </p:cNvCxnSpPr>
          <p:nvPr/>
        </p:nvCxnSpPr>
        <p:spPr>
          <a:xfrm flipV="1">
            <a:off x="5074920" y="3099050"/>
            <a:ext cx="0" cy="4727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66F108B-84E1-4A4D-B599-8289FD2EF7F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830957" y="2625015"/>
            <a:ext cx="122165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566894B-FC75-46D8-9177-DDB2B5D2CAE2}"/>
              </a:ext>
            </a:extLst>
          </p:cNvPr>
          <p:cNvSpPr/>
          <p:nvPr/>
        </p:nvSpPr>
        <p:spPr>
          <a:xfrm>
            <a:off x="5382893" y="5030633"/>
            <a:ext cx="156290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Response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AA1D600B-FAD3-4F48-909D-46E4251AB3ED}"/>
              </a:ext>
            </a:extLst>
          </p:cNvPr>
          <p:cNvCxnSpPr>
            <a:cxnSpLocks/>
            <a:stCxn id="46" idx="2"/>
            <a:endCxn id="60" idx="3"/>
          </p:cNvCxnSpPr>
          <p:nvPr/>
        </p:nvCxnSpPr>
        <p:spPr>
          <a:xfrm rot="5400000">
            <a:off x="7573849" y="2615487"/>
            <a:ext cx="2013810" cy="326992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704A28AD-F566-4CA1-B4F6-970EA45C5F41}"/>
              </a:ext>
            </a:extLst>
          </p:cNvPr>
          <p:cNvCxnSpPr>
            <a:cxnSpLocks/>
            <a:stCxn id="60" idx="1"/>
            <a:endCxn id="34" idx="2"/>
          </p:cNvCxnSpPr>
          <p:nvPr/>
        </p:nvCxnSpPr>
        <p:spPr>
          <a:xfrm rot="10800000">
            <a:off x="1548669" y="3582206"/>
            <a:ext cx="3834224" cy="167514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92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0" rIns="254000" tIns="50800" bIns="50800"/>
          <a:lstStyle/>
          <a:p>
            <a:pPr algn="l"/>
            <a:r>
              <a:rPr sz="2200" b="1">
                <a:solidFill>
                  <a:srgbClr val="FFFFFF"/>
                </a:solidFill>
              </a:rPr>
              <a:t>API Gateway – 토큰검증 인증/인가(auth-svc)</a:t>
            </a: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2C1DFF5E-E0EF-4DDE-9EEC-D24A77B6E7E6}"/>
              </a:ext>
            </a:extLst>
          </p:cNvPr>
          <p:cNvCxnSpPr>
            <a:cxnSpLocks/>
          </p:cNvCxnSpPr>
          <p:nvPr/>
        </p:nvCxnSpPr>
        <p:spPr>
          <a:xfrm flipH="1">
            <a:off x="4188063" y="2167998"/>
            <a:ext cx="5083816" cy="1822553"/>
          </a:xfrm>
          <a:prstGeom prst="bentConnector4">
            <a:avLst>
              <a:gd name="adj1" fmla="val -7514"/>
              <a:gd name="adj2" fmla="val 224215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C722636-DDB0-4EA0-880A-B9A49BAF0B87}"/>
              </a:ext>
            </a:extLst>
          </p:cNvPr>
          <p:cNvSpPr/>
          <p:nvPr/>
        </p:nvSpPr>
        <p:spPr>
          <a:xfrm>
            <a:off x="1645780" y="1514738"/>
            <a:ext cx="156290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Request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101BDB-53A6-4595-A1FF-D76A11AB7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39" y="1741457"/>
            <a:ext cx="731583" cy="104403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A83478-87F9-4CD5-AFEB-D23382441A0F}"/>
              </a:ext>
            </a:extLst>
          </p:cNvPr>
          <p:cNvSpPr/>
          <p:nvPr/>
        </p:nvSpPr>
        <p:spPr>
          <a:xfrm>
            <a:off x="1645780" y="1968175"/>
            <a:ext cx="1562901" cy="908209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Authorization: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Bearer &lt;TOKEN&gt;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76880B5-16D7-446B-AF56-BA0ED09C35B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208681" y="2422280"/>
            <a:ext cx="34541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185A6241-9446-4766-B393-E1C252B6D701}"/>
              </a:ext>
            </a:extLst>
          </p:cNvPr>
          <p:cNvSpPr/>
          <p:nvPr/>
        </p:nvSpPr>
        <p:spPr>
          <a:xfrm>
            <a:off x="5681069" y="1992501"/>
            <a:ext cx="1562901" cy="857352"/>
          </a:xfrm>
          <a:prstGeom prst="flowChartDecision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ea"/>
                <a:ea typeface="+mj-ea"/>
              </a:rPr>
              <a:t>token</a:t>
            </a:r>
            <a:r>
              <a:rPr lang="ko-KR" altLang="en-US" sz="1000" dirty="0">
                <a:latin typeface="+mj-ea"/>
                <a:ea typeface="+mj-ea"/>
              </a:rPr>
              <a:t>이 유효한가</a:t>
            </a:r>
            <a:r>
              <a:rPr lang="en-US" altLang="ko-KR" sz="1000" dirty="0">
                <a:latin typeface="+mj-ea"/>
                <a:ea typeface="+mj-ea"/>
              </a:rPr>
              <a:t>?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38AB73-3EDA-4DBC-8F8D-60ABA555C765}"/>
              </a:ext>
            </a:extLst>
          </p:cNvPr>
          <p:cNvSpPr/>
          <p:nvPr/>
        </p:nvSpPr>
        <p:spPr>
          <a:xfrm>
            <a:off x="3554093" y="1967739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Auth-core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79BA66E-E5CB-49C7-A201-50F4EC143521}"/>
              </a:ext>
            </a:extLst>
          </p:cNvPr>
          <p:cNvSpPr/>
          <p:nvPr/>
        </p:nvSpPr>
        <p:spPr>
          <a:xfrm>
            <a:off x="3554093" y="2421177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WebFluxJwtAuthFilter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토큰검증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E364EC9-E9A4-4694-B34A-ADAD502A7710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262769" y="2421177"/>
            <a:ext cx="4183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8485E7C-703F-41EF-9FAF-44C47FA9B2FA}"/>
              </a:ext>
            </a:extLst>
          </p:cNvPr>
          <p:cNvCxnSpPr>
            <a:cxnSpLocks/>
            <a:stCxn id="14" idx="2"/>
            <a:endCxn id="38" idx="0"/>
          </p:cNvCxnSpPr>
          <p:nvPr/>
        </p:nvCxnSpPr>
        <p:spPr>
          <a:xfrm>
            <a:off x="6462520" y="2849853"/>
            <a:ext cx="0" cy="4921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B35C050-2D65-437D-ACCE-B61730E15C23}"/>
              </a:ext>
            </a:extLst>
          </p:cNvPr>
          <p:cNvSpPr/>
          <p:nvPr/>
        </p:nvSpPr>
        <p:spPr>
          <a:xfrm>
            <a:off x="5689530" y="4764115"/>
            <a:ext cx="1562901" cy="35604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Service Call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B2CCD1C-0246-4DCF-9FAF-04CE1D71D03D}"/>
              </a:ext>
            </a:extLst>
          </p:cNvPr>
          <p:cNvSpPr/>
          <p:nvPr/>
        </p:nvSpPr>
        <p:spPr>
          <a:xfrm>
            <a:off x="5689530" y="5121230"/>
            <a:ext cx="1562901" cy="331285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비즈니스 처리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D01802-EEB6-41EE-AF0E-24F0DADF658F}"/>
              </a:ext>
            </a:extLst>
          </p:cNvPr>
          <p:cNvSpPr/>
          <p:nvPr/>
        </p:nvSpPr>
        <p:spPr>
          <a:xfrm>
            <a:off x="3554093" y="3537113"/>
            <a:ext cx="156290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Response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D51B5A84-44B6-455A-9769-1E36F9561C14}"/>
              </a:ext>
            </a:extLst>
          </p:cNvPr>
          <p:cNvCxnSpPr>
            <a:cxnSpLocks/>
            <a:stCxn id="33" idx="1"/>
            <a:endCxn id="6" idx="2"/>
          </p:cNvCxnSpPr>
          <p:nvPr/>
        </p:nvCxnSpPr>
        <p:spPr>
          <a:xfrm rot="10800000">
            <a:off x="1061831" y="2785488"/>
            <a:ext cx="2492262" cy="978345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7D16884-2F7E-4F3E-954F-DCC5DCA391E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243970" y="2421177"/>
            <a:ext cx="62905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CC8E247-0142-4150-AEDE-AF12E2059C02}"/>
              </a:ext>
            </a:extLst>
          </p:cNvPr>
          <p:cNvSpPr txBox="1"/>
          <p:nvPr/>
        </p:nvSpPr>
        <p:spPr>
          <a:xfrm>
            <a:off x="6462519" y="2958490"/>
            <a:ext cx="405752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Yes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4ADCFE-4F58-498E-9182-0755C328851C}"/>
              </a:ext>
            </a:extLst>
          </p:cNvPr>
          <p:cNvSpPr txBox="1"/>
          <p:nvPr/>
        </p:nvSpPr>
        <p:spPr>
          <a:xfrm>
            <a:off x="7252431" y="2078043"/>
            <a:ext cx="394660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No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3F24B89-0425-487D-AF40-05B30C063F8C}"/>
              </a:ext>
            </a:extLst>
          </p:cNvPr>
          <p:cNvSpPr/>
          <p:nvPr/>
        </p:nvSpPr>
        <p:spPr>
          <a:xfrm>
            <a:off x="7856458" y="1941279"/>
            <a:ext cx="1562902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 err="1">
                <a:solidFill>
                  <a:schemeClr val="tx1"/>
                </a:solidFill>
                <a:latin typeface="+mj-ea"/>
                <a:ea typeface="+mj-ea"/>
              </a:rPr>
              <a:t>UnAuthorized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3011468-4F9A-40CD-AA0F-3928ECCFDFB8}"/>
              </a:ext>
            </a:extLst>
          </p:cNvPr>
          <p:cNvSpPr/>
          <p:nvPr/>
        </p:nvSpPr>
        <p:spPr>
          <a:xfrm>
            <a:off x="7856458" y="2394717"/>
            <a:ext cx="1562902" cy="629870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WebFluxCustomAuthEntryPoint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401 </a:t>
            </a:r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UnAuthorized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순서도: 판단 37">
            <a:extLst>
              <a:ext uri="{FF2B5EF4-FFF2-40B4-BE49-F238E27FC236}">
                <a16:creationId xmlns:a16="http://schemas.microsoft.com/office/drawing/2014/main" id="{29A4F4EA-F913-428D-81AF-D2BE3D3BD73D}"/>
              </a:ext>
            </a:extLst>
          </p:cNvPr>
          <p:cNvSpPr/>
          <p:nvPr/>
        </p:nvSpPr>
        <p:spPr>
          <a:xfrm>
            <a:off x="5681069" y="3341994"/>
            <a:ext cx="1562901" cy="857352"/>
          </a:xfrm>
          <a:prstGeom prst="flowChartDecision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+mj-ea"/>
                <a:ea typeface="+mj-ea"/>
              </a:rPr>
              <a:t>권한이 있는가</a:t>
            </a:r>
            <a:r>
              <a:rPr lang="en-US" altLang="ko-KR" sz="1000" dirty="0">
                <a:latin typeface="+mj-ea"/>
                <a:ea typeface="+mj-ea"/>
              </a:rPr>
              <a:t>?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28814C1-CE82-498A-9E72-F5097DE11B1C}"/>
              </a:ext>
            </a:extLst>
          </p:cNvPr>
          <p:cNvSpPr/>
          <p:nvPr/>
        </p:nvSpPr>
        <p:spPr>
          <a:xfrm>
            <a:off x="7740111" y="4764115"/>
            <a:ext cx="167084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Access Denied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1EA87D5-B236-4E4E-9ED7-741947D79CA7}"/>
              </a:ext>
            </a:extLst>
          </p:cNvPr>
          <p:cNvSpPr/>
          <p:nvPr/>
        </p:nvSpPr>
        <p:spPr>
          <a:xfrm>
            <a:off x="7740111" y="5217553"/>
            <a:ext cx="1670841" cy="629870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WebFluxCustomAccessDeniedHandler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403 Forbidden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CCDF47-F7D1-4AB0-B6B9-F1376044FAD6}"/>
              </a:ext>
            </a:extLst>
          </p:cNvPr>
          <p:cNvSpPr txBox="1"/>
          <p:nvPr/>
        </p:nvSpPr>
        <p:spPr>
          <a:xfrm>
            <a:off x="6833328" y="4244124"/>
            <a:ext cx="394660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No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A4B8F3-0B2F-4AE3-B073-4ED0830AEE2A}"/>
              </a:ext>
            </a:extLst>
          </p:cNvPr>
          <p:cNvSpPr txBox="1"/>
          <p:nvPr/>
        </p:nvSpPr>
        <p:spPr>
          <a:xfrm>
            <a:off x="6047546" y="4250706"/>
            <a:ext cx="405752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Yes</a:t>
            </a:r>
            <a:endParaRPr lang="ko-KR" altLang="en-US" sz="1200" dirty="0">
              <a:latin typeface="+mj-ea"/>
              <a:ea typeface="+mj-ea"/>
            </a:endParaRP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32040CD6-73B6-4051-AF95-D1F32A899005}"/>
              </a:ext>
            </a:extLst>
          </p:cNvPr>
          <p:cNvCxnSpPr>
            <a:cxnSpLocks/>
            <a:stCxn id="38" idx="2"/>
            <a:endCxn id="43" idx="0"/>
          </p:cNvCxnSpPr>
          <p:nvPr/>
        </p:nvCxnSpPr>
        <p:spPr>
          <a:xfrm rot="16200000" flipH="1">
            <a:off x="7236642" y="3425224"/>
            <a:ext cx="564769" cy="2113012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EA40FC42-2E8B-4A7B-B2CF-BB4994BE02B2}"/>
              </a:ext>
            </a:extLst>
          </p:cNvPr>
          <p:cNvCxnSpPr>
            <a:cxnSpLocks/>
            <a:stCxn id="38" idx="2"/>
            <a:endCxn id="31" idx="0"/>
          </p:cNvCxnSpPr>
          <p:nvPr/>
        </p:nvCxnSpPr>
        <p:spPr>
          <a:xfrm>
            <a:off x="6462520" y="4199346"/>
            <a:ext cx="8461" cy="5647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D5C8C3DE-F503-46F8-AC4C-B85F2B54BDF7}"/>
              </a:ext>
            </a:extLst>
          </p:cNvPr>
          <p:cNvCxnSpPr>
            <a:cxnSpLocks/>
            <a:stCxn id="44" idx="2"/>
            <a:endCxn id="33" idx="2"/>
          </p:cNvCxnSpPr>
          <p:nvPr/>
        </p:nvCxnSpPr>
        <p:spPr>
          <a:xfrm rot="5400000" flipH="1">
            <a:off x="5527102" y="2798993"/>
            <a:ext cx="1856872" cy="4239988"/>
          </a:xfrm>
          <a:prstGeom prst="bentConnector3">
            <a:avLst>
              <a:gd name="adj1" fmla="val -1000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732503FC-0CED-4FF6-A27A-DD885FBFF0CB}"/>
              </a:ext>
            </a:extLst>
          </p:cNvPr>
          <p:cNvCxnSpPr>
            <a:cxnSpLocks/>
          </p:cNvCxnSpPr>
          <p:nvPr/>
        </p:nvCxnSpPr>
        <p:spPr>
          <a:xfrm rot="5400000" flipH="1">
            <a:off x="4853453" y="3667755"/>
            <a:ext cx="1461964" cy="2135437"/>
          </a:xfrm>
          <a:prstGeom prst="bentConnector3">
            <a:avLst>
              <a:gd name="adj1" fmla="val -1563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E59472D-D5F7-413E-B443-C4810217C449}"/>
              </a:ext>
            </a:extLst>
          </p:cNvPr>
          <p:cNvSpPr txBox="1"/>
          <p:nvPr/>
        </p:nvSpPr>
        <p:spPr>
          <a:xfrm>
            <a:off x="493693" y="5482601"/>
            <a:ext cx="314550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Access Token </a:t>
            </a:r>
            <a:r>
              <a:rPr lang="ko-KR" altLang="en-US" sz="1000" dirty="0" err="1">
                <a:solidFill>
                  <a:srgbClr val="FF0000"/>
                </a:solidFill>
                <a:latin typeface="+mj-ea"/>
                <a:ea typeface="+mj-ea"/>
              </a:rPr>
              <a:t>만료시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 클라이언트는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Refresh Token</a:t>
            </a:r>
          </a:p>
          <a:p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다시 전달 후 재발급</a:t>
            </a:r>
            <a:endParaRPr lang="en-US" altLang="ko-KR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03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50800" bIns="50800"/>
          <a:lstStyle/>
          <a:p>
            <a:pPr algn="l"/>
            <a:r>
              <a:rPr sz="2200" b="1">
                <a:solidFill>
                  <a:srgbClr val="FFFFFF"/>
                </a:solidFill>
              </a:rPr>
              <a:t>설정 관리  –  Profile-based YML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960120"/>
            <a:ext cx="5120640" cy="2834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1E567A"/>
                </a:solidFill>
              </a:rPr>
              <a:t>📁  디렉토리 구조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src/main/resources/config/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  ├─ {module}/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  │    application.yml          ← 모듈 공통 (항상 포함)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  ├─ {module}/local/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  │    application-local.yml    ← local 전용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  └─ {module}/dev/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       application-dev.yml     ← dev 전용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/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  └─ auth-core/{profile}/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ourier New"/>
              </a:rPr>
              <a:t>       application-authcore-{profile}.yml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532120" y="960120"/>
            <a:ext cx="6446520" cy="36576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59" y="987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987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987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1325880"/>
            <a:ext cx="6446520" cy="347472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Eureka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localhost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371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192.168.11.197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1673352"/>
            <a:ext cx="6446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719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Token TTL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719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1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719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30 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2020824"/>
            <a:ext cx="6446520" cy="347472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0665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665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(콘솔)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06654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~/apps/.../logs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2368296"/>
            <a:ext cx="6446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24140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4140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192.168.11.197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140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192.168.11.197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2715768"/>
            <a:ext cx="6446520" cy="347472"/>
          </a:xfrm>
          <a:prstGeom prst="rect">
            <a:avLst/>
          </a:prstGeom>
          <a:solidFill>
            <a:srgbClr val="EEF4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27614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7614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local (기본값)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7614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-Pprofile=dev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931920"/>
            <a:ext cx="5120640" cy="1828800"/>
          </a:xfrm>
          <a:prstGeom prst="rect">
            <a:avLst/>
          </a:prstGeom>
          <a:solidFill>
            <a:srgbClr val="EEF4FB"/>
          </a:solidFill>
          <a:ln w="1270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1E567A"/>
                </a:solidFill>
              </a:rPr>
              <a:t>⚙  빌드 동작 방식</a:t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>processResources가 -Pprofile 값에 따라</a:t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>해당 환경의 YML 파일만 JAR에 패키징</a:t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>→ 다른 환경 DB 정보가 JAR에 포함되지 않음 (보안)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2788920"/>
            <a:ext cx="644652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FFB74D"/>
                </a:solidFill>
              </a:rPr>
              <a:t>$ 빌드 명령</a:t>
            </a:r>
          </a:p>
          <a:p>
            <a:pPr algn="l"/>
            <a:r>
              <a:rPr sz="1000" b="0">
                <a:solidFill>
                  <a:srgbClr val="CCFFCC"/>
                </a:solidFill>
                <a:latin typeface="Courier New"/>
              </a:rPr>
              <a:t>./gradlew :services:auth-svc:bootJar -Pprofile=dev</a:t>
            </a:r>
          </a:p>
          <a:p>
            <a:pPr algn="l"/>
            <a:r>
              <a:rPr sz="1000" b="0">
                <a:solidFill>
                  <a:srgbClr val="CCFFCC"/>
                </a:solidFill>
                <a:latin typeface="Courier New"/>
              </a:rPr>
              <a:t>./gradlew :services:product-svc:bootJar -Pprofile=dev</a:t>
            </a:r>
          </a:p>
          <a:p>
            <a:pPr algn="l"/>
            <a:r>
              <a:rPr sz="1000" b="0">
                <a:solidFill>
                  <a:srgbClr val="CCFFCC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CCFFCC"/>
                </a:solidFill>
                <a:latin typeface="Courier New"/>
              </a:rPr>
              <a:t>결과물 → build/dist/bx-cf-be/*.jar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4206240"/>
            <a:ext cx="644652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FFB74D"/>
                </a:solidFill>
              </a:rPr>
              <a:t>⚠  주의</a:t>
            </a:r>
          </a:p>
          <a:p>
            <a:pPr algn="l"/>
            <a:r>
              <a:rPr sz="900" b="0">
                <a:solidFill>
                  <a:srgbClr val="1A1A1A"/>
                </a:solidFill>
              </a:rPr>
              <a:t>모듈 자체 resources에 동일 파일이 있으면 EXCLUDE 전략으로 공통 설정이 무시됨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50800" bIns="50800"/>
          <a:lstStyle/>
          <a:p>
            <a:pPr algn="l"/>
            <a:r>
              <a:rPr sz="2200" b="1">
                <a:solidFill>
                  <a:srgbClr val="FFFFFF"/>
                </a:solidFill>
              </a:rPr>
              <a:t>API 목록  &amp;  Swagger 집계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914400"/>
            <a:ext cx="164592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567A"/>
                </a:solidFill>
              </a:rPr>
              <a:t>Client</a:t>
            </a:r>
          </a:p>
        </p:txBody>
      </p:sp>
      <p:sp>
        <p:nvSpPr>
          <p:cNvPr id="5" name="Can 4"/>
          <p:cNvSpPr/>
          <p:nvPr/>
        </p:nvSpPr>
        <p:spPr>
          <a:xfrm>
            <a:off x="1920240" y="1097280"/>
            <a:ext cx="548640" cy="274320"/>
          </a:xfrm>
          <a:prstGeom prst="can">
            <a:avLst/>
          </a:prstGeom>
          <a:solidFill>
            <a:srgbClr val="A5C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914400"/>
            <a:ext cx="2286000" cy="64008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C1CF"/>
                </a:solidFill>
              </a:rPr>
              <a:t>:18081</a:t>
            </a:r>
          </a:p>
        </p:txBody>
      </p:sp>
      <p:sp>
        <p:nvSpPr>
          <p:cNvPr id="9" name="Can 8"/>
          <p:cNvSpPr/>
          <p:nvPr/>
        </p:nvSpPr>
        <p:spPr>
          <a:xfrm>
            <a:off x="4937760" y="1097280"/>
            <a:ext cx="548640" cy="274320"/>
          </a:xfrm>
          <a:prstGeom prst="can">
            <a:avLst/>
          </a:prstGeom>
          <a:solidFill>
            <a:srgbClr val="A5C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841248"/>
            <a:ext cx="2560320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886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B74D"/>
                </a:solidFill>
              </a:rPr>
              <a:t>auth-svc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161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:18082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841248"/>
            <a:ext cx="25603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886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BB6A"/>
                </a:solidFill>
              </a:rPr>
              <a:t>product-svc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161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:18083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828800"/>
            <a:ext cx="3931920" cy="2286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FFB74D"/>
                </a:solidFill>
              </a:rPr>
              <a:t>🔐  auth-svc  엔드포인트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POST  /channel/backend/api/v1/auth/login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  body :  usrId, usrPwd (SHA-256)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  return:  accessToken, refreshToken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POST  /channel/backend/api/v1/auth/refresh-token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  body :  refreshToken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  return:  새 accessToken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★ 인증 불필요 (퍼블릭 엔드포인트)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93192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66BB6A"/>
                </a:solidFill>
              </a:rPr>
              <a:t>📦  product-svc  엔드포인트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GET  /channel/backend/api/v1/product/list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  ?useYn=Y&amp;productNm=펀드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  return:  상품 목록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GET  /channel/backend/api/v1/product/{productId}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  return:  상품 단건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🔒 JWT 인증 필요 (Authorization: Bearer ...)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828800"/>
            <a:ext cx="3566160" cy="2286000"/>
          </a:xfrm>
          <a:prstGeom prst="rect">
            <a:avLst/>
          </a:prstGeom>
          <a:solidFill>
            <a:srgbClr val="F3E5F5"/>
          </a:solidFill>
          <a:ln w="127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AB47BC"/>
                </a:solidFill>
              </a:rPr>
              <a:t>📄  Swagger UI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:18081/swagger-ui.html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드롭다운으로 서비스 전환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  → auth-svc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  → product-svc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Authorize → Bearer 토큰 입력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  → 이후 요청에 자동 첨부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  (persist-authorization 활성)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251960"/>
            <a:ext cx="1197864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FFB74D"/>
                </a:solidFill>
              </a:rPr>
              <a:t>공통 응답 규격</a:t>
            </a:r>
          </a:p>
          <a:p>
            <a:pPr algn="l"/>
            <a:r>
              <a:rPr sz="1000" b="0">
                <a:solidFill>
                  <a:srgbClr val="CCFFCC"/>
                </a:solidFill>
                <a:latin typeface="Courier New"/>
              </a:rPr>
              <a:t>{ "success": true, "code": "0", "msg": "success", "payload": { ... }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50800" bIns="50800"/>
          <a:lstStyle/>
          <a:p>
            <a:pPr algn="l"/>
            <a:r>
              <a:rPr sz="2200" b="1">
                <a:solidFill>
                  <a:srgbClr val="FFFFFF"/>
                </a:solidFill>
              </a:rPr>
              <a:t>CI/CD  –  GitHub Actions + Self-hosted Runner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960120"/>
            <a:ext cx="2377440" cy="137160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1600" rIns="101600"/>
          <a:lstStyle/>
          <a:p>
            <a:pPr algn="ctr"/>
            <a:r>
              <a:rPr sz="2200" b="1">
                <a:solidFill>
                  <a:srgbClr val="FFB74D"/>
                </a:solidFill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Push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develop 브랜치</a:t>
            </a:r>
          </a:p>
        </p:txBody>
      </p:sp>
      <p:sp>
        <p:nvSpPr>
          <p:cNvPr id="4" name="Can 3"/>
          <p:cNvSpPr/>
          <p:nvPr/>
        </p:nvSpPr>
        <p:spPr>
          <a:xfrm>
            <a:off x="2560320" y="1463040"/>
            <a:ext cx="274320" cy="320040"/>
          </a:xfrm>
          <a:prstGeom prst="can">
            <a:avLst/>
          </a:prstGeom>
          <a:solidFill>
            <a:srgbClr val="A5C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88920" y="960120"/>
            <a:ext cx="2377440" cy="137160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1600" rIns="101600"/>
          <a:lstStyle/>
          <a:p>
            <a:pPr algn="ctr"/>
            <a:r>
              <a:rPr sz="2200" b="1">
                <a:solidFill>
                  <a:srgbClr val="FFB74D"/>
                </a:solidFill>
              </a:rPr>
              <a:t>2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Detect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paths-filter
경로 감지</a:t>
            </a:r>
          </a:p>
        </p:txBody>
      </p:sp>
      <p:sp>
        <p:nvSpPr>
          <p:cNvPr id="6" name="Can 5"/>
          <p:cNvSpPr/>
          <p:nvPr/>
        </p:nvSpPr>
        <p:spPr>
          <a:xfrm>
            <a:off x="5166360" y="1463040"/>
            <a:ext cx="274320" cy="320040"/>
          </a:xfrm>
          <a:prstGeom prst="can">
            <a:avLst/>
          </a:prstGeom>
          <a:solidFill>
            <a:srgbClr val="A5C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94960" y="960120"/>
            <a:ext cx="2377440" cy="137160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1600" rIns="101600"/>
          <a:lstStyle/>
          <a:p>
            <a:pPr algn="ctr"/>
            <a:r>
              <a:rPr sz="2200" b="1">
                <a:solidFill>
                  <a:srgbClr val="FFB74D"/>
                </a:solidFill>
              </a:rPr>
              <a:t>3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Build JAR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./gradlew bootJar
-Pprofile=dev</a:t>
            </a:r>
          </a:p>
        </p:txBody>
      </p:sp>
      <p:sp>
        <p:nvSpPr>
          <p:cNvPr id="8" name="Can 7"/>
          <p:cNvSpPr/>
          <p:nvPr/>
        </p:nvSpPr>
        <p:spPr>
          <a:xfrm>
            <a:off x="7772400" y="1463040"/>
            <a:ext cx="274320" cy="320040"/>
          </a:xfrm>
          <a:prstGeom prst="can">
            <a:avLst/>
          </a:prstGeom>
          <a:solidFill>
            <a:srgbClr val="A5C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960120"/>
            <a:ext cx="2377440" cy="137160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1600" rIns="101600"/>
          <a:lstStyle/>
          <a:p>
            <a:pPr algn="ctr"/>
            <a:r>
              <a:rPr sz="2200" b="1">
                <a:solidFill>
                  <a:srgbClr val="FFB74D"/>
                </a:solidFill>
              </a:rPr>
              <a:t>4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Deploy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stop → start
스크립트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606040"/>
            <a:ext cx="576072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1E567A"/>
                </a:solidFill>
              </a:rPr>
              <a:t>🎯  선택적 재배포 규칙  (dorny/paths-filter)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변경 경로                         →  재배포 대상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─────────────────────────────────────────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services/auth-svc/**              →  auth-svc 만 재기동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services/product-svc/**           →  product-svc 만 재기동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libs/**                                →  전체 재기동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infra/**                               →  전체 재기동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scripts/**                             →  전체 재기동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.github/workflows/**             →  전체 재기동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─────────────────────────────────────────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빌드 실패 시  →  stop 실행 안 됨  →  기존 서비스 유지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606040"/>
            <a:ext cx="5852160" cy="1417320"/>
          </a:xfrm>
          <a:prstGeom prst="rect">
            <a:avLst/>
          </a:prstGeom>
          <a:solidFill>
            <a:srgbClr val="EEF4FB"/>
          </a:solidFill>
          <a:ln w="1270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1E567A"/>
                </a:solidFill>
              </a:rPr>
              <a:t>🍎  macOS Runner 핵심 설정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env -u RUNNER_TRACKING_ID nohup java -jar ...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job 종료 후에도 프로세스가 살아남는다</a:t>
            </a:r>
          </a:p>
          <a:p>
            <a:pPr algn="l"/>
            <a:r>
              <a:rPr sz="950" b="0">
                <a:solidFill>
                  <a:srgbClr val="1A1A1A"/>
                </a:solidFill>
              </a:rPr>
              <a:t>(RUNNER_TRACKING_ID 제거로 kill 방지)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206240"/>
            <a:ext cx="5852160" cy="1508760"/>
          </a:xfrm>
          <a:prstGeom prst="rect">
            <a:avLst/>
          </a:prstGeom>
          <a:solidFill>
            <a:srgbClr val="1E1E2E"/>
          </a:solidFill>
          <a:ln w="1270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FFB74D"/>
                </a:solidFill>
              </a:rPr>
              <a:t>📜  배포 스크립트</a:t>
            </a:r>
          </a:p>
          <a:p>
            <a:pPr algn="l"/>
            <a:r>
              <a:rPr sz="950" b="0">
                <a:solidFill>
                  <a:srgbClr val="CCFFCC"/>
                </a:solidFill>
                <a:latin typeface="Courier New"/>
              </a:rPr>
              <a:t>scripts/start-all.sh   ← 기동 (discovery → svc → gw)</a:t>
            </a:r>
          </a:p>
          <a:p>
            <a:pPr algn="l"/>
            <a:r>
              <a:rPr sz="950" b="0">
                <a:solidFill>
                  <a:srgbClr val="CCFFCC"/>
                </a:solidFill>
                <a:latin typeface="Courier New"/>
              </a:rPr>
              <a:t>scripts/stop-all.sh    ← 종료 (역순: gw → svc → discovery)</a:t>
            </a:r>
          </a:p>
          <a:p>
            <a:pPr algn="l"/>
            <a:r>
              <a:rPr sz="950" b="0">
                <a:solidFill>
                  <a:srgbClr val="CCFFCC"/>
                </a:solidFill>
                <a:latin typeface="Courier New"/>
              </a:rPr>
              <a:t/>
            </a:r>
          </a:p>
          <a:p>
            <a:pPr algn="l"/>
            <a:r>
              <a:rPr sz="950" b="0">
                <a:solidFill>
                  <a:srgbClr val="CCFFCC"/>
                </a:solidFill>
                <a:latin typeface="Courier New"/>
              </a:rPr>
              <a:t>JAR 위치:  ~/apps/bx-cf-be/{svc}/{svc}.jar</a:t>
            </a:r>
          </a:p>
          <a:p>
            <a:pPr algn="l"/>
            <a:r>
              <a:rPr sz="950" b="0">
                <a:solidFill>
                  <a:srgbClr val="CCFFCC"/>
                </a:solidFill>
                <a:latin typeface="Courier New"/>
              </a:rPr>
              <a:t>PID 위치:  ~/apps/bx-cf-be/{svc}/{svc}.pid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50800" bIns="50800"/>
          <a:lstStyle/>
          <a:p>
            <a:pPr algn="l"/>
            <a:r>
              <a:rPr sz="2200" b="1">
                <a:solidFill>
                  <a:srgbClr val="FFFFFF"/>
                </a:solidFill>
              </a:rPr>
              <a:t>환경별 접속 정보  –  Local / Dev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960120"/>
            <a:ext cx="5760720" cy="411480"/>
          </a:xfrm>
          <a:prstGeom prst="rect">
            <a:avLst/>
          </a:prstGeom>
          <a:solidFill>
            <a:srgbClr val="55555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🖥  Local 환경  (IntelliJ에서 직접 실행)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17320"/>
            <a:ext cx="57607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813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discovery-svc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481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567A"/>
                </a:solidFill>
              </a:rPr>
              <a:t>:18761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81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Eureka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83080"/>
            <a:ext cx="5760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47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api-gateway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47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567A"/>
                </a:solidFill>
              </a:rPr>
              <a:t>:18081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470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Spring Cloud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148840"/>
            <a:ext cx="57607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128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auth-svc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128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567A"/>
                </a:solidFill>
              </a:rPr>
              <a:t>:18082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128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인증 / 토큰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514600"/>
            <a:ext cx="5760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product-svc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567A"/>
                </a:solidFill>
              </a:rPr>
              <a:t>:18083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786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상품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926080"/>
            <a:ext cx="57607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1E567A"/>
                </a:solidFill>
              </a:rPr>
              <a:t>🔗  접속 주소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Eureka UI   →  http://localhost:18761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Swagger UI  →  http://localhost:18081/swagger-ui.html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API Base    →  http://localhost:18081/channel/backend/api/v1/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DB          →  jdbc:postgresql://192.168.11.197:5432/bxcfdb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434840"/>
            <a:ext cx="5760720" cy="1234440"/>
          </a:xfrm>
          <a:prstGeom prst="rect">
            <a:avLst/>
          </a:prstGeom>
          <a:solidFill>
            <a:srgbClr val="EEF4FB"/>
          </a:solidFill>
          <a:ln w="1270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1E567A"/>
                </a:solidFill>
              </a:rPr>
              <a:t>▶  실행 순서</a:t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>discovery-svc  →  auth-svc + product-svc  →  api-gateway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960120"/>
            <a:ext cx="5760720" cy="411480"/>
          </a:xfrm>
          <a:prstGeom prst="rect">
            <a:avLst/>
          </a:prstGeom>
          <a:solidFill>
            <a:srgbClr val="1E56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☁  Dev 환경  (macOS 서버: 192.168.11.197)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417320"/>
            <a:ext cx="5760720" cy="365760"/>
          </a:xfrm>
          <a:prstGeom prst="rect">
            <a:avLst/>
          </a:prstGeom>
          <a:solidFill>
            <a:srgbClr val="EEF4FB"/>
          </a:solidFill>
          <a:ln w="635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4813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discovery-svc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481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567A"/>
                </a:solidFill>
              </a:rPr>
              <a:t>:18761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1481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Eureka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783080"/>
            <a:ext cx="5760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847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api-gateway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847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567A"/>
                </a:solidFill>
              </a:rPr>
              <a:t>:18081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18470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Spring Cloud Gateway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148840"/>
            <a:ext cx="5760720" cy="365760"/>
          </a:xfrm>
          <a:prstGeom prst="rect">
            <a:avLst/>
          </a:prstGeom>
          <a:solidFill>
            <a:srgbClr val="EEF4FB"/>
          </a:solidFill>
          <a:ln w="635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2128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auth-svc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2128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567A"/>
                </a:solidFill>
              </a:rPr>
              <a:t>:18082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2128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인증 / 토큰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514600"/>
            <a:ext cx="5760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567A"/>
                </a:solidFill>
              </a:rPr>
              <a:t>product-svc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567A"/>
                </a:solidFill>
              </a:rPr>
              <a:t>:18083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25786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상품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926080"/>
            <a:ext cx="5760720" cy="1371600"/>
          </a:xfrm>
          <a:prstGeom prst="rect">
            <a:avLst/>
          </a:prstGeom>
          <a:solidFill>
            <a:srgbClr val="EEF4FB"/>
          </a:solidFill>
          <a:ln w="1270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1E567A"/>
                </a:solidFill>
              </a:rPr>
              <a:t>🔗  접속 주소 (nginx 80포트 경유)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Eureka UI   →  http://192.168.11.197:18761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Swagger UI  →  http://192.168.11.197:18081/swagger-ui.html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API Base    →  http://192.168.11.197/channel/backend/api/v1/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Courier New"/>
              </a:rPr>
              <a:t>DB          →  jdbc:postgresql://192.168.11.197:5432/bxcfdb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434840"/>
            <a:ext cx="576072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A5C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101600" rIns="101600"/>
          <a:lstStyle/>
          <a:p>
            <a:pPr algn="l"/>
            <a:r>
              <a:rPr sz="1200" b="1">
                <a:solidFill>
                  <a:srgbClr val="FFB74D"/>
                </a:solidFill>
              </a:rPr>
              <a:t>📁  서버 경로</a:t>
            </a:r>
          </a:p>
          <a:p>
            <a:pPr algn="l"/>
            <a:r>
              <a:rPr sz="1000" b="0">
                <a:solidFill>
                  <a:srgbClr val="CCFFCC"/>
                </a:solidFill>
                <a:latin typeface="Courier New"/>
              </a:rPr>
              <a:t>JAR  →  ~/apps/bx-cf-be/{svc}/{svc}.jar</a:t>
            </a:r>
          </a:p>
          <a:p>
            <a:pPr algn="l"/>
            <a:r>
              <a:rPr sz="1000" b="0">
                <a:solidFill>
                  <a:srgbClr val="CCFFCC"/>
                </a:solidFill>
                <a:latin typeface="Courier New"/>
              </a:rPr>
              <a:t>Log  →  ~/apps/bx-cf-be/logs/{svc}.log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비눗방울 디자인 서식 파일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6225153_TF03460638.potx" id="{6D3506B3-04BD-40F6-808E-5ADC49B1E733}" vid="{2D8C61C1-F675-47B7-A28F-0327A17A9F7B}"/>
    </a:ext>
  </a:extLst>
</a:theme>
</file>

<file path=ppt/theme/theme2.xml><?xml version="1.0" encoding="utf-8"?>
<a:theme xmlns:a="http://schemas.openxmlformats.org/drawingml/2006/main" name="Office 테마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TM02892315[[fn=줄기]]</Template>
  <TotalTime>4027</TotalTime>
  <Words>942</Words>
  <Application>Microsoft Office PowerPoint</Application>
  <PresentationFormat>와이드스크린</PresentationFormat>
  <Paragraphs>233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돋움체</vt:lpstr>
      <vt:lpstr>맑은 고딕</vt:lpstr>
      <vt:lpstr>Arial</vt:lpstr>
      <vt:lpstr>Century Gothic</vt:lpstr>
      <vt:lpstr>Courier New</vt:lpstr>
      <vt:lpstr>Wingdings</vt:lpstr>
      <vt:lpstr>비눗방울 디자인 서식 파일</vt:lpstr>
      <vt:lpstr>채널 프레임워크 구축</vt:lpstr>
      <vt:lpstr>채널 프레임워크 구성</vt:lpstr>
      <vt:lpstr>PowerPoint 프레젠테이션</vt:lpstr>
      <vt:lpstr>인증</vt:lpstr>
      <vt:lpstr>PowerPoint 프레젠테이션</vt:lpstr>
      <vt:lpstr>프로젝트 구조 (monorepo)</vt:lpstr>
      <vt:lpstr>Spring Cloud Server</vt:lpstr>
      <vt:lpstr>API Gateway - 토큰발급요청(auth-svc)</vt:lpstr>
      <vt:lpstr>API Gateway – 토큰검증 인증/인가(auth-svc)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Vue.js</dc:title>
  <dc:creator>NB-24032503</dc:creator>
  <cp:lastModifiedBy>NB-25072815</cp:lastModifiedBy>
  <cp:revision>265</cp:revision>
  <dcterms:created xsi:type="dcterms:W3CDTF">2024-04-05T05:52:18Z</dcterms:created>
  <dcterms:modified xsi:type="dcterms:W3CDTF">2025-09-26T06:07:07Z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